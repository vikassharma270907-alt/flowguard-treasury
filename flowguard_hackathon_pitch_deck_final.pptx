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9f70fde14a44ca" /><Relationship Type="http://schemas.openxmlformats.org/officeDocument/2006/relationships/extended-properties" Target="/docProps/app.xml" Id="R40f2f9c8cc7b4f0c" /><Relationship Type="http://schemas.openxmlformats.org/officeDocument/2006/relationships/officeDocument" Target="/ppt/presentation.xml" Id="R32261822877948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636f2fce4c479f"/>
  </p:sldMasterIdLst>
  <p:notesMasterIdLst>
    <p:notesMasterId xmlns:r="http://schemas.openxmlformats.org/officeDocument/2006/relationships" r:id="R49f0683b747841b6"/>
  </p:notesMasterIdLst>
  <p:sldIdLst>
    <p:sldId xmlns:r="http://schemas.openxmlformats.org/officeDocument/2006/relationships" id="256" r:id="Rd63689686f1a432f"/>
    <p:sldId xmlns:r="http://schemas.openxmlformats.org/officeDocument/2006/relationships" id="257" r:id="R597e873731af4f3d"/>
    <p:sldId xmlns:r="http://schemas.openxmlformats.org/officeDocument/2006/relationships" id="258" r:id="Rd21ace5b5db147dd"/>
    <p:sldId xmlns:r="http://schemas.openxmlformats.org/officeDocument/2006/relationships" id="259" r:id="R1b032ad848c44297"/>
    <p:sldId xmlns:r="http://schemas.openxmlformats.org/officeDocument/2006/relationships" id="260" r:id="R819db2afa5294524"/>
    <p:sldId xmlns:r="http://schemas.openxmlformats.org/officeDocument/2006/relationships" id="261" r:id="R36163b75dd7e4b5c"/>
    <p:sldId xmlns:r="http://schemas.openxmlformats.org/officeDocument/2006/relationships" id="262" r:id="Rb842e35ca41b48e3"/>
    <p:sldId xmlns:r="http://schemas.openxmlformats.org/officeDocument/2006/relationships" id="263" r:id="R93b466bed1e545b3"/>
    <p:sldId xmlns:r="http://schemas.openxmlformats.org/officeDocument/2006/relationships" id="264" r:id="R116307503d7a4212"/>
    <p:sldId xmlns:r="http://schemas.openxmlformats.org/officeDocument/2006/relationships" id="265" r:id="Rbd9886f4af3f48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f5b06de0724a05" /><Relationship Type="http://schemas.openxmlformats.org/officeDocument/2006/relationships/slideMaster" Target="/ppt/slideMasters/slideMaster1.xml" Id="R20636f2fce4c479f" /><Relationship Type="http://schemas.openxmlformats.org/officeDocument/2006/relationships/notesMaster" Target="/ppt/notesMasters/notesMaster1.xml" Id="R49f0683b747841b6" /><Relationship Type="http://schemas.openxmlformats.org/officeDocument/2006/relationships/presProps" Target="/ppt/presProps.xml" Id="R2b181060ec8849ef" /><Relationship Type="http://schemas.openxmlformats.org/officeDocument/2006/relationships/tableStyles" Target="/ppt/tableStyles.xml" Id="R482bd1cf8e8944fe" /><Relationship Type="http://schemas.openxmlformats.org/officeDocument/2006/relationships/slide" Target="/ppt/slides/slide1.xml" Id="Rd63689686f1a432f" /><Relationship Type="http://schemas.openxmlformats.org/officeDocument/2006/relationships/slide" Target="/ppt/slides/slide2.xml" Id="R597e873731af4f3d" /><Relationship Type="http://schemas.openxmlformats.org/officeDocument/2006/relationships/slide" Target="/ppt/slides/slide3.xml" Id="Rd21ace5b5db147dd" /><Relationship Type="http://schemas.openxmlformats.org/officeDocument/2006/relationships/slide" Target="/ppt/slides/slide4.xml" Id="R1b032ad848c44297" /><Relationship Type="http://schemas.openxmlformats.org/officeDocument/2006/relationships/slide" Target="/ppt/slides/slide5.xml" Id="R819db2afa5294524" /><Relationship Type="http://schemas.openxmlformats.org/officeDocument/2006/relationships/slide" Target="/ppt/slides/slide6.xml" Id="R36163b75dd7e4b5c" /><Relationship Type="http://schemas.openxmlformats.org/officeDocument/2006/relationships/slide" Target="/ppt/slides/slide7.xml" Id="Rb842e35ca41b48e3" /><Relationship Type="http://schemas.openxmlformats.org/officeDocument/2006/relationships/slide" Target="/ppt/slides/slide8.xml" Id="R93b466bed1e545b3" /><Relationship Type="http://schemas.openxmlformats.org/officeDocument/2006/relationships/slide" Target="/ppt/slides/slide9.xml" Id="R116307503d7a4212" /><Relationship Type="http://schemas.openxmlformats.org/officeDocument/2006/relationships/slide" Target="/ppt/slides/slide10.xml" Id="Rbd9886f4af3f48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851a7547d84e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93a3d8c0654f4f" /><Relationship Type="http://schemas.openxmlformats.org/officeDocument/2006/relationships/notesMaster" Target="/ppt/notesMasters/notesMaster1.xml" Id="Re2899f10f2614d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e4c128396045e8" /><Relationship Type="http://schemas.openxmlformats.org/officeDocument/2006/relationships/notesMaster" Target="/ppt/notesMasters/notesMaster1.xml" Id="Rd327963bb59148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1ef3f457fa4f8f" /><Relationship Type="http://schemas.openxmlformats.org/officeDocument/2006/relationships/notesMaster" Target="/ppt/notesMasters/notesMaster1.xml" Id="R62ee03ce3ebc41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e8cef7acc049bc" /><Relationship Type="http://schemas.openxmlformats.org/officeDocument/2006/relationships/notesMaster" Target="/ppt/notesMasters/notesMaster1.xml" Id="R401ea4454ecb4e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c733a5484342fe" /><Relationship Type="http://schemas.openxmlformats.org/officeDocument/2006/relationships/notesMaster" Target="/ppt/notesMasters/notesMaster1.xml" Id="R4911feaad16e40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10e71facf04b87" /><Relationship Type="http://schemas.openxmlformats.org/officeDocument/2006/relationships/notesMaster" Target="/ppt/notesMasters/notesMaster1.xml" Id="R959c09c2e09149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659285b3a7440f" /><Relationship Type="http://schemas.openxmlformats.org/officeDocument/2006/relationships/notesMaster" Target="/ppt/notesMasters/notesMaster1.xml" Id="Rfbfdca6d899145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3575c5386a498e" /><Relationship Type="http://schemas.openxmlformats.org/officeDocument/2006/relationships/notesMaster" Target="/ppt/notesMasters/notesMaster1.xml" Id="R69b203066c5e4a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99f92615dd47f8" /><Relationship Type="http://schemas.openxmlformats.org/officeDocument/2006/relationships/notesMaster" Target="/ppt/notesMasters/notesMaster1.xml" Id="Rdff13faabdb34a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821cc8eb5e46d3" /><Relationship Type="http://schemas.openxmlformats.org/officeDocument/2006/relationships/notesMaster" Target="/ppt/notesMasters/notesMaster1.xml" Id="R412daf8d11a646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FlowGuard: Adaptive Treasury Controller &amp; AP Duplicate Shield. Source: FlowGuard Hackathon Dossier, supplied by project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sources: Federal Reserve Small Business Credit Survey Reports on Employer Firms and Payments (2023, 2024), fedsmallbusiness.org/survey/2024/report-on-employer-firms. IOFM Accounts Payable Benchmark Studies and SAP Concur Small Business Invoice Duplication Report. BIS CPMI-G20 Roadmap for Enhancing Cross-Border Payments, bis.org/cpmi/publ/d193.htm. Claims and figures reproduced from supplied dossier.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FlowGuard product positioning from supplied dossier. Architecture integrates Airwallex Sandbox payouts and ArmorIQ intent assurance.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Formula and Scenario A data from supplied dossier. Formula: Projected Balance = Current Liquidity (USD Base) - (Invoice Amount x FX Rate + Corridor Fee). Action is PAY_NOW when projected balance is at or above reserve floor; otherwise DEFER.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Duplicate detection rules from supplied dossier: exact normalized match; Levenshtein distance &lt;= 2 after common re-bill suffix stripping; vendor + amount + 14-day date window; remittance bank detail audit. Scenario B injects INV-2024-884B for Bavaria Precision, shown as a critical duplicate.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ArmorIQ governance architecture from supplied dossier. Policy rules: duplicate-risk prohibition, reserve-floor inviolability, and cryptographic canonical plan hashing using SHA-256 / Ed25519 signatures. The human approver binds approval before the Airwallex Sandbox transfer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Airwallex Sandbox architecture and calls from supplied dossier. Sandbox base URL: api.sandbox.airwallex.com/api/v1. Authentication: POST /authentication/login; a 30-minute bearer token supports subsequent calls. Transfer creation uses POST /transfers/create with 36-character UUID request_id. Status simulation uses POST /simulation/transfers/{id}/transition.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Scenario definitions reproduced from supplied dossier. A: baseline multi-currency run. B: duplicate invoice attack. C: delayed customer receivable. D: sandbox deposit replenishment. Slide uses native editable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Timeline adapted from the three-minute hackathon presentation script in supplied dossier. Presenter flow: 0:00 problem; 0:40 deterministic planning; 1:20 duplicate attack; 2:05 sandbox execution; 2:40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statement grounded in the supplied FlowGuard Hackathon Dossier. The proposed system combines Airwallex Sandbox API integration, ArmorIQ intent assurance, deterministic duplicate detection, reserve-floor policy, and an immutable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5418c5502f4f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606c561e704b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b212ba0d684d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807a37fe74b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e2b8e1829048e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c4cc60249142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77BB70-7FBC-4ACE-83EF-2C768D9760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6EF33A5-26DE-4B7E-940E-A9391CA9F4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C2D81CE-A548-486E-A5C6-8C7FF0A59E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90A3DE-1927-4A4F-9DCA-C107608CEB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E366360-7977-43AB-AA63-22005DD7AC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EDB537E-DDB7-432D-8F17-A2007237C6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C77B77-37BC-415F-80D2-759DE6DDC9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E2CB6FA-AE84-473D-8D45-FE28D54C2C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56487C-F05A-4A98-9AB4-90876246FE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60393C-24D0-419D-870F-75B8BF0607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872bf433e24896" /><Relationship Type="http://schemas.openxmlformats.org/officeDocument/2006/relationships/slideLayout" Target="/ppt/slideLayouts/slideLayout1.xml" Id="R809bfd9f6f5d47f6" /><Relationship Type="http://schemas.openxmlformats.org/officeDocument/2006/relationships/slideLayout" Target="/ppt/slideLayouts/slideLayout2.xml" Id="R3cad4c11c7c6417b" /><Relationship Type="http://schemas.openxmlformats.org/officeDocument/2006/relationships/slideLayout" Target="/ppt/slideLayouts/slideLayout3.xml" Id="R996767044b6f45c4" /><Relationship Type="http://schemas.openxmlformats.org/officeDocument/2006/relationships/slideLayout" Target="/ppt/slideLayouts/slideLayout4.xml" Id="Rde6ea272d1ca479e" /><Relationship Type="http://schemas.openxmlformats.org/officeDocument/2006/relationships/slideLayout" Target="/ppt/slideLayouts/slideLayout5.xml" Id="R5df744c4fbd24759" /><Relationship Type="http://schemas.openxmlformats.org/officeDocument/2006/relationships/slideLayout" Target="/ppt/slideLayouts/slideLayout6.xml" Id="Rbd8a5485a5634f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9bfd9f6f5d47f6"/>
    <p:sldLayoutId xmlns:r="http://schemas.openxmlformats.org/officeDocument/2006/relationships" id="2147483650" r:id="R3cad4c11c7c6417b"/>
    <p:sldLayoutId xmlns:r="http://schemas.openxmlformats.org/officeDocument/2006/relationships" id="2147483651" r:id="R996767044b6f45c4"/>
    <p:sldLayoutId xmlns:r="http://schemas.openxmlformats.org/officeDocument/2006/relationships" id="2147483652" r:id="Rde6ea272d1ca479e"/>
    <p:sldLayoutId xmlns:r="http://schemas.openxmlformats.org/officeDocument/2006/relationships" id="2147483653" r:id="R5df744c4fbd24759"/>
    <p:sldLayoutId xmlns:r="http://schemas.openxmlformats.org/officeDocument/2006/relationships" id="2147483654" r:id="Rbd8a5485a5634f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e0c0ff408b4bc8" /><Relationship Type="http://schemas.openxmlformats.org/officeDocument/2006/relationships/notesSlide" Target="/ppt/notesSlides/notesSlide1.xml" Id="R4cbc8fb756dc45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de10bbdab54718" /><Relationship Type="http://schemas.openxmlformats.org/officeDocument/2006/relationships/notesSlide" Target="/ppt/notesSlides/notesSlide2.xml" Id="Re3c8a942256747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3233435c754f2b" /><Relationship Type="http://schemas.openxmlformats.org/officeDocument/2006/relationships/notesSlide" Target="/ppt/notesSlides/notesSlide3.xml" Id="Rf112bab3946b4c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a8c8c6c1cf4347" /><Relationship Type="http://schemas.openxmlformats.org/officeDocument/2006/relationships/notesSlide" Target="/ppt/notesSlides/notesSlide4.xml" Id="Reb074184d1ed4c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76822df83e4d2a" /><Relationship Type="http://schemas.openxmlformats.org/officeDocument/2006/relationships/notesSlide" Target="/ppt/notesSlides/notesSlide5.xml" Id="Rc9270f333ca34d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4f9ec1f540401c" /><Relationship Type="http://schemas.openxmlformats.org/officeDocument/2006/relationships/notesSlide" Target="/ppt/notesSlides/notesSlide6.xml" Id="R5769594922fb48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f002d20dbe4957" /><Relationship Type="http://schemas.openxmlformats.org/officeDocument/2006/relationships/notesSlide" Target="/ppt/notesSlides/notesSlide7.xml" Id="R1063477c04a045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3d8a2faf2548e9" /><Relationship Type="http://schemas.openxmlformats.org/officeDocument/2006/relationships/notesSlide" Target="/ppt/notesSlides/notesSlide8.xml" Id="Rb698efe06c9741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6d5e922f8b444e" /><Relationship Type="http://schemas.openxmlformats.org/officeDocument/2006/relationships/notesSlide" Target="/ppt/notesSlides/notesSlide9.xml" Id="Rddbae675c43c40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8688ddb94a4aa5" /><Relationship Type="http://schemas.openxmlformats.org/officeDocument/2006/relationships/notesSlide" Target="/ppt/notesSlides/notesSlide10.xml" Id="R408b31ee20b240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hape-1">
            <a:extLst xmlns:a="http://schemas.openxmlformats.org/drawingml/2006/main">
              <a:ext uri="{FF2B5EF4-FFF2-40B4-BE49-F238E27FC236}">
                <a16:creationId xmlns:a16="http://schemas.microsoft.com/office/drawing/2014/main" id="{2E8E3CC6-777C-44A7-81E3-A1F21EAD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1C1"/>
          </a:solidFill>
          <a:ln xmlns:a="http://schemas.openxmlformats.org/drawingml/2006/main" w="0">
            <a:solidFill>
              <a:srgbClr val="35E1C1"/>
            </a:solidFill>
            <a:prstDash val="solid"/>
          </a:ln>
        </p:spPr>
      </p:sp>
      <p:sp>
        <p:nvSpPr>
          <p:cNvPr id="2" name="tag-2">
            <a:extLst xmlns:a="http://schemas.openxmlformats.org/drawingml/2006/main">
              <a:ext uri="{FF2B5EF4-FFF2-40B4-BE49-F238E27FC236}">
                <a16:creationId xmlns:a16="http://schemas.microsoft.com/office/drawing/2014/main" id="{2EFD90BD-096D-428C-B331-085E056C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35E1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5E1C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5E1C1"/>
                </a:solidFill>
                <a:latin typeface="Arial"/>
                <a:ea typeface="Arial"/>
                <a:cs typeface="Arial"/>
              </a:rPr>
              <a:t>AIRWALLEX DEVELOPER HACKATHON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678D3E6-4426-498C-9C76-1498328C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600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FlowGuard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3D3BB72B-176E-4E93-943E-BB7F5925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6191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A8F4D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A8F4DE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A8F4DE"/>
                </a:solidFill>
                <a:latin typeface="Arial"/>
                <a:ea typeface="Arial"/>
                <a:cs typeface="Arial"/>
              </a:rPr>
              <a:t>Adaptive treasury control</a:t>
            </a:r>
          </a:p>
          <a:p xmlns:a="http://schemas.openxmlformats.org/drawingml/2006/main">
            <a:pPr algn="l">
              <a:defRPr sz="2475" b="1">
                <a:solidFill>
                  <a:srgbClr val="A8F4DE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A8F4DE"/>
                </a:solidFill>
                <a:latin typeface="Arial"/>
                <a:ea typeface="Arial"/>
                <a:cs typeface="Arial"/>
              </a:rPr>
              <a:t>and AP duplicate protection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08B13A74-D59E-40F7-A967-9F8C3546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C2D4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C2D4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2D4D7"/>
                </a:solidFill>
                <a:latin typeface="Arial"/>
                <a:ea typeface="Arial"/>
                <a:cs typeface="Arial"/>
              </a:rPr>
              <a:t>A safer payment path for cross-border small businesses</a:t>
            </a:r>
          </a:p>
        </p:txBody>
      </p:sp>
      <p:sp>
        <p:nvSpPr>
          <p:cNvPr id="6" name="rule-5">
            <a:extLst xmlns:a="http://schemas.openxmlformats.org/drawingml/2006/main">
              <a:ext uri="{FF2B5EF4-FFF2-40B4-BE49-F238E27FC236}">
                <a16:creationId xmlns:a16="http://schemas.microsoft.com/office/drawing/2014/main" id="{DBD0887E-7FC8-4620-A735-474D1FE7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23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1C1"/>
          </a:solidFill>
          <a:ln xmlns:a="http://schemas.openxmlformats.org/drawingml/2006/main" w="0">
            <a:solidFill>
              <a:srgbClr val="35E1C1"/>
            </a:solidFill>
            <a:prstDash val="solid"/>
          </a:ln>
        </p:spPr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F33BD385-4AA0-4E68-BD38-BA5BB30D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Reserve-aware decisions. Deterministic duplicate detection.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Intent-bound approvals.</a:t>
            </a:r>
          </a:p>
        </p:txBody>
      </p:sp>
      <p:sp>
        <p:nvSpPr>
          <p:cNvPr id="8" name="shape-7">
            <a:extLst xmlns:a="http://schemas.openxmlformats.org/drawingml/2006/main">
              <a:ext uri="{FF2B5EF4-FFF2-40B4-BE49-F238E27FC236}">
                <a16:creationId xmlns:a16="http://schemas.microsoft.com/office/drawing/2014/main" id="{9E47C401-2444-4EDD-8715-16285456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04875"/>
            <a:ext cx="3429000" cy="4095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D2E3B"/>
          </a:solidFill>
          <a:ln xmlns:a="http://schemas.openxmlformats.org/drawingml/2006/main" w="9525">
            <a:solidFill>
              <a:srgbClr val="244B58"/>
            </a:solidFill>
            <a:prstDash val="solid"/>
          </a:ln>
        </p:spPr>
      </p:sp>
      <p:sp>
        <p:nvSpPr>
          <p:cNvPr id="9" name="tag-8">
            <a:extLst xmlns:a="http://schemas.openxmlformats.org/drawingml/2006/main">
              <a:ext uri="{FF2B5EF4-FFF2-40B4-BE49-F238E27FC236}">
                <a16:creationId xmlns:a16="http://schemas.microsoft.com/office/drawing/2014/main" id="{61F41941-2C26-4508-ACFD-2851A06C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33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E5FF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E5FF7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5FF71"/>
                </a:solidFill>
                <a:latin typeface="Arial"/>
                <a:ea typeface="Arial"/>
                <a:cs typeface="Arial"/>
              </a:rPr>
              <a:t>PAYMENT GUARDRAILS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D588C72F-2059-4715-B223-63724D8A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669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$15,000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3D5ACA1E-B484-462C-9AE7-06E3E95D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574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C2D4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C2D4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2D4D7"/>
                </a:solidFill>
                <a:latin typeface="Arial"/>
                <a:ea typeface="Arial"/>
                <a:cs typeface="Arial"/>
              </a:rPr>
              <a:t>protected reserve floor</a:t>
            </a:r>
          </a:p>
        </p:txBody>
      </p:sp>
      <p:sp>
        <p:nvSpPr>
          <p:cNvPr id="12" name="rule-11">
            <a:extLst xmlns:a="http://schemas.openxmlformats.org/drawingml/2006/main">
              <a:ext uri="{FF2B5EF4-FFF2-40B4-BE49-F238E27FC236}">
                <a16:creationId xmlns:a16="http://schemas.microsoft.com/office/drawing/2014/main" id="{7FAE8C2F-86D3-4D0C-9253-5FD8DECE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28950"/>
            <a:ext cx="234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5969"/>
          </a:solidFill>
          <a:ln xmlns:a="http://schemas.openxmlformats.org/drawingml/2006/main" w="0">
            <a:solidFill>
              <a:srgbClr val="325969"/>
            </a:solidFill>
            <a:prstDash val="solid"/>
          </a:ln>
        </p:spPr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460CAE44-F83E-4FD8-9CD1-1A4B1E34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33750"/>
            <a:ext cx="2190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FF75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75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756B"/>
                </a:solidFill>
                <a:latin typeface="Arial"/>
                <a:ea typeface="Arial"/>
                <a:cs typeface="Arial"/>
              </a:rPr>
              <a:t>DUPLICATE INVOICE</a:t>
            </a:r>
          </a:p>
        </p:txBody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3A648937-E41E-4CA5-BE01-679FE727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718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FF75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756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756B"/>
                </a:solidFill>
                <a:latin typeface="Arial"/>
                <a:ea typeface="Arial"/>
                <a:cs typeface="Arial"/>
              </a:rPr>
              <a:t>BLOCKED</a:t>
            </a:r>
          </a:p>
        </p:txBody>
      </p:sp>
      <p:sp>
        <p:nvSpPr>
          <p:cNvPr id="15" name="rule-14">
            <a:extLst xmlns:a="http://schemas.openxmlformats.org/drawingml/2006/main">
              <a:ext uri="{FF2B5EF4-FFF2-40B4-BE49-F238E27FC236}">
                <a16:creationId xmlns:a16="http://schemas.microsoft.com/office/drawing/2014/main" id="{865F6516-0475-47D8-9905-DEE51007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29100"/>
            <a:ext cx="234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5969"/>
          </a:solidFill>
          <a:ln xmlns:a="http://schemas.openxmlformats.org/drawingml/2006/main" w="0">
            <a:solidFill>
              <a:srgbClr val="325969"/>
            </a:solidFill>
            <a:prstDash val="solid"/>
          </a:ln>
        </p:spPr>
      </p:sp>
      <p:sp>
        <p:nvSpPr>
          <p:cNvPr id="16" name="txt-15">
            <a:extLst xmlns:a="http://schemas.openxmlformats.org/drawingml/2006/main">
              <a:ext uri="{FF2B5EF4-FFF2-40B4-BE49-F238E27FC236}">
                <a16:creationId xmlns:a16="http://schemas.microsoft.com/office/drawing/2014/main" id="{3471A8DC-0C34-4351-A795-C634ED36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14850"/>
            <a:ext cx="2190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35E1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5E1C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5E1C1"/>
                </a:solidFill>
                <a:latin typeface="Arial"/>
                <a:ea typeface="Arial"/>
                <a:cs typeface="Arial"/>
              </a:rPr>
              <a:t>INTENT TOKEN</a:t>
            </a:r>
          </a:p>
        </p:txBody>
      </p:sp>
      <p:sp>
        <p:nvSpPr>
          <p:cNvPr id="17" name="txt-16">
            <a:extLst xmlns:a="http://schemas.openxmlformats.org/drawingml/2006/main">
              <a:ext uri="{FF2B5EF4-FFF2-40B4-BE49-F238E27FC236}">
                <a16:creationId xmlns:a16="http://schemas.microsoft.com/office/drawing/2014/main" id="{90DF684A-E57E-4324-AA3D-56A94EA5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62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Verified before payout</a:t>
            </a:r>
          </a:p>
        </p:txBody>
      </p:sp>
      <p:sp>
        <p:nvSpPr>
          <p:cNvPr id="18" name="rule-17">
            <a:extLst xmlns:a="http://schemas.openxmlformats.org/drawingml/2006/main">
              <a:ext uri="{FF2B5EF4-FFF2-40B4-BE49-F238E27FC236}">
                <a16:creationId xmlns:a16="http://schemas.microsoft.com/office/drawing/2014/main" id="{FB6850D1-2BD5-40B4-88BD-F9B49C52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652"/>
          </a:solidFill>
          <a:ln xmlns:a="http://schemas.openxmlformats.org/drawingml/2006/main" w="0">
            <a:solidFill>
              <a:srgbClr val="254652"/>
            </a:solidFill>
            <a:prstDash val="solid"/>
          </a:ln>
        </p:spPr>
      </p:sp>
      <p:sp>
        <p:nvSpPr>
          <p:cNvPr id="19" name="txt-18">
            <a:extLst xmlns:a="http://schemas.openxmlformats.org/drawingml/2006/main">
              <a:ext uri="{FF2B5EF4-FFF2-40B4-BE49-F238E27FC236}">
                <a16:creationId xmlns:a16="http://schemas.microsoft.com/office/drawing/2014/main" id="{8DF20B23-619D-4372-A3E6-2E50ABF3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B5CA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B5CAC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5CACD"/>
                </a:solidFill>
                <a:latin typeface="Arial"/>
                <a:ea typeface="Arial"/>
                <a:cs typeface="Arial"/>
              </a:rPr>
              <a:t>FLOWGUARD</a:t>
            </a:r>
          </a:p>
        </p:txBody>
      </p:sp>
      <p:sp>
        <p:nvSpPr>
          <p:cNvPr id="20" name="txt-19">
            <a:extLst xmlns:a="http://schemas.openxmlformats.org/drawingml/2006/main">
              <a:ext uri="{FF2B5EF4-FFF2-40B4-BE49-F238E27FC236}">
                <a16:creationId xmlns:a16="http://schemas.microsoft.com/office/drawing/2014/main" id="{D2CF38A8-A657-4E8B-B657-A4ECEFBD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B5CA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B5CAC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5CAC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33979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ag-20">
            <a:extLst xmlns:a="http://schemas.openxmlformats.org/drawingml/2006/main">
              <a:ext uri="{FF2B5EF4-FFF2-40B4-BE49-F238E27FC236}">
                <a16:creationId xmlns:a16="http://schemas.microsoft.com/office/drawing/2014/main" id="{142D0062-782C-4316-8C01-BF1BED47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35E1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5E1C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5E1C1"/>
                </a:solidFill>
                <a:latin typeface="Arial"/>
                <a:ea typeface="Arial"/>
                <a:cs typeface="Arial"/>
              </a:rPr>
              <a:t>THE PAYMENT PROBLEM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7EBB37E-9370-4972-9B1E-155070EC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Liquidity risk sits at the intersection of timing, fraud, and opaque cost</a:t>
            </a:r>
          </a:p>
        </p:txBody>
      </p:sp>
      <p:sp>
        <p:nvSpPr>
          <p:cNvPr id="3" name="txt-21">
            <a:extLst xmlns:a="http://schemas.openxmlformats.org/drawingml/2006/main">
              <a:ext uri="{FF2B5EF4-FFF2-40B4-BE49-F238E27FC236}">
                <a16:creationId xmlns:a16="http://schemas.microsoft.com/office/drawing/2014/main" id="{45C5917E-D356-4C02-97AE-C391B3DE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A82"/>
                </a:solidFill>
                <a:latin typeface="Arial"/>
                <a:ea typeface="Arial"/>
                <a:cs typeface="Arial"/>
              </a:rPr>
              <a:t>Small cross-border firms need more than a payment queue. They need a defensible decision engine.</a:t>
            </a:r>
          </a:p>
        </p:txBody>
      </p:sp>
      <p:sp>
        <p:nvSpPr>
          <p:cNvPr id="4" name="rule-22">
            <a:extLst xmlns:a="http://schemas.openxmlformats.org/drawingml/2006/main">
              <a:ext uri="{FF2B5EF4-FFF2-40B4-BE49-F238E27FC236}">
                <a16:creationId xmlns:a16="http://schemas.microsoft.com/office/drawing/2014/main" id="{25142AC1-53BC-47E7-9593-18940DEE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BDD"/>
          </a:solidFill>
          <a:ln xmlns:a="http://schemas.openxmlformats.org/drawingml/2006/main" w="0">
            <a:solidFill>
              <a:srgbClr val="CBDBDD"/>
            </a:solidFill>
            <a:prstDash val="solid"/>
          </a:ln>
        </p:spPr>
      </p:sp>
      <p:sp>
        <p:nvSpPr>
          <p:cNvPr id="5" name="txt-23">
            <a:extLst xmlns:a="http://schemas.openxmlformats.org/drawingml/2006/main">
              <a:ext uri="{FF2B5EF4-FFF2-40B4-BE49-F238E27FC236}">
                <a16:creationId xmlns:a16="http://schemas.microsoft.com/office/drawing/2014/main" id="{A2286375-F259-4D1C-B51F-45F85207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A82"/>
                </a:solidFill>
                <a:latin typeface="Arial"/>
                <a:ea typeface="Arial"/>
                <a:cs typeface="Arial"/>
              </a:rPr>
              <a:t>FLOWGUARD</a:t>
            </a:r>
          </a:p>
        </p:txBody>
      </p:sp>
      <p:sp>
        <p:nvSpPr>
          <p:cNvPr id="6" name="txt-24">
            <a:extLst xmlns:a="http://schemas.openxmlformats.org/drawingml/2006/main">
              <a:ext uri="{FF2B5EF4-FFF2-40B4-BE49-F238E27FC236}">
                <a16:creationId xmlns:a16="http://schemas.microsoft.com/office/drawing/2014/main" id="{43B11573-4FB6-44B1-BE9D-18F1A0E3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A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shape-25">
            <a:extLst xmlns:a="http://schemas.openxmlformats.org/drawingml/2006/main">
              <a:ext uri="{FF2B5EF4-FFF2-40B4-BE49-F238E27FC236}">
                <a16:creationId xmlns:a16="http://schemas.microsoft.com/office/drawing/2014/main" id="{3BCDF2D9-B219-4506-8080-F5A0075C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85750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BDD"/>
            </a:solidFill>
            <a:prstDash val="solid"/>
          </a:ln>
        </p:spPr>
      </p:sp>
      <p:sp>
        <p:nvSpPr>
          <p:cNvPr id="8" name="rule-26">
            <a:extLst xmlns:a="http://schemas.openxmlformats.org/drawingml/2006/main">
              <a:ext uri="{FF2B5EF4-FFF2-40B4-BE49-F238E27FC236}">
                <a16:creationId xmlns:a16="http://schemas.microsoft.com/office/drawing/2014/main" id="{DBA6A3B4-6B6E-4230-AAD8-1EFE0735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1C1"/>
          </a:solidFill>
          <a:ln xmlns:a="http://schemas.openxmlformats.org/drawingml/2006/main" w="0">
            <a:solidFill>
              <a:srgbClr val="35E1C1"/>
            </a:solidFill>
            <a:prstDash val="solid"/>
          </a:ln>
        </p:spPr>
      </p:sp>
      <p:sp>
        <p:nvSpPr>
          <p:cNvPr id="9" name="txt-27">
            <a:extLst xmlns:a="http://schemas.openxmlformats.org/drawingml/2006/main">
              <a:ext uri="{FF2B5EF4-FFF2-40B4-BE49-F238E27FC236}">
                <a16:creationId xmlns:a16="http://schemas.microsoft.com/office/drawing/2014/main" id="{FBF6B29F-3D88-4F24-88AF-DCE4A6AE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223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&gt;60%</a:t>
            </a:r>
          </a:p>
        </p:txBody>
      </p:sp>
      <p:sp>
        <p:nvSpPr>
          <p:cNvPr id="10" name="txt-28">
            <a:extLst xmlns:a="http://schemas.openxmlformats.org/drawingml/2006/main">
              <a:ext uri="{FF2B5EF4-FFF2-40B4-BE49-F238E27FC236}">
                <a16:creationId xmlns:a16="http://schemas.microsoft.com/office/drawing/2014/main" id="{735BF985-53D9-4A2B-BD69-F26C0355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43325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A2E35"/>
                </a:solidFill>
                <a:latin typeface="Arial"/>
                <a:ea typeface="Arial"/>
                <a:cs typeface="Arial"/>
              </a:rPr>
              <a:t>of small businesses cite cash-flow volatility and uneven supplier obligations as a major risk</a:t>
            </a:r>
          </a:p>
        </p:txBody>
      </p:sp>
      <p:sp>
        <p:nvSpPr>
          <p:cNvPr id="11" name="shape-29">
            <a:extLst xmlns:a="http://schemas.openxmlformats.org/drawingml/2006/main">
              <a:ext uri="{FF2B5EF4-FFF2-40B4-BE49-F238E27FC236}">
                <a16:creationId xmlns:a16="http://schemas.microsoft.com/office/drawing/2014/main" id="{ADB25FE3-04CA-409B-92C1-916AC690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33625"/>
            <a:ext cx="285750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BDD"/>
            </a:solidFill>
            <a:prstDash val="solid"/>
          </a:ln>
        </p:spPr>
      </p:sp>
      <p:sp>
        <p:nvSpPr>
          <p:cNvPr id="12" name="rule-30">
            <a:extLst xmlns:a="http://schemas.openxmlformats.org/drawingml/2006/main">
              <a:ext uri="{FF2B5EF4-FFF2-40B4-BE49-F238E27FC236}">
                <a16:creationId xmlns:a16="http://schemas.microsoft.com/office/drawing/2014/main" id="{62311E21-FE13-4A5D-8D17-143E6AB2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56B"/>
          </a:solidFill>
          <a:ln xmlns:a="http://schemas.openxmlformats.org/drawingml/2006/main" w="0">
            <a:solidFill>
              <a:srgbClr val="FF756B"/>
            </a:solidFill>
            <a:prstDash val="solid"/>
          </a:ln>
        </p:spPr>
      </p:sp>
      <p:sp>
        <p:nvSpPr>
          <p:cNvPr id="13" name="txt-31">
            <a:extLst xmlns:a="http://schemas.openxmlformats.org/drawingml/2006/main">
              <a:ext uri="{FF2B5EF4-FFF2-40B4-BE49-F238E27FC236}">
                <a16:creationId xmlns:a16="http://schemas.microsoft.com/office/drawing/2014/main" id="{57741056-954B-44B7-A444-A417C202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990850"/>
            <a:ext cx="223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1.29%</a:t>
            </a:r>
          </a:p>
        </p:txBody>
      </p:sp>
      <p:sp>
        <p:nvSpPr>
          <p:cNvPr id="14" name="txt-32">
            <a:extLst xmlns:a="http://schemas.openxmlformats.org/drawingml/2006/main">
              <a:ext uri="{FF2B5EF4-FFF2-40B4-BE49-F238E27FC236}">
                <a16:creationId xmlns:a16="http://schemas.microsoft.com/office/drawing/2014/main" id="{F5C00FF2-34EA-420B-A282-0BC64CA4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743325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A2E35"/>
                </a:solidFill>
                <a:latin typeface="Arial"/>
                <a:ea typeface="Arial"/>
                <a:cs typeface="Arial"/>
              </a:rPr>
              <a:t>average duplicate invoice rate reported for SMBs, often triggered by minor invoice-number variations</a:t>
            </a:r>
          </a:p>
        </p:txBody>
      </p:sp>
      <p:sp>
        <p:nvSpPr>
          <p:cNvPr id="15" name="shape-33">
            <a:extLst xmlns:a="http://schemas.openxmlformats.org/drawingml/2006/main">
              <a:ext uri="{FF2B5EF4-FFF2-40B4-BE49-F238E27FC236}">
                <a16:creationId xmlns:a16="http://schemas.microsoft.com/office/drawing/2014/main" id="{A995C21B-341B-4B3A-B144-4B31C95A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33625"/>
            <a:ext cx="285750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BDD"/>
            </a:solidFill>
            <a:prstDash val="solid"/>
          </a:ln>
        </p:spPr>
      </p:sp>
      <p:sp>
        <p:nvSpPr>
          <p:cNvPr id="16" name="rule-34">
            <a:extLst xmlns:a="http://schemas.openxmlformats.org/drawingml/2006/main">
              <a:ext uri="{FF2B5EF4-FFF2-40B4-BE49-F238E27FC236}">
                <a16:creationId xmlns:a16="http://schemas.microsoft.com/office/drawing/2014/main" id="{D2037E29-F555-4EC0-84E1-0B1EB930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47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66D"/>
          </a:solidFill>
          <a:ln xmlns:a="http://schemas.openxmlformats.org/drawingml/2006/main" w="0">
            <a:solidFill>
              <a:srgbClr val="FFC66D"/>
            </a:solidFill>
            <a:prstDash val="solid"/>
          </a:ln>
        </p:spPr>
      </p:sp>
      <p:sp>
        <p:nvSpPr>
          <p:cNvPr id="17" name="txt-35">
            <a:extLst xmlns:a="http://schemas.openxmlformats.org/drawingml/2006/main">
              <a:ext uri="{FF2B5EF4-FFF2-40B4-BE49-F238E27FC236}">
                <a16:creationId xmlns:a16="http://schemas.microsoft.com/office/drawing/2014/main" id="{3141A8D0-95B4-4C2C-92FF-3CC6C7E7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90850"/>
            <a:ext cx="223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1.5%-6%</a:t>
            </a:r>
          </a:p>
        </p:txBody>
      </p:sp>
      <p:sp>
        <p:nvSpPr>
          <p:cNvPr id="18" name="txt-36">
            <a:extLst xmlns:a="http://schemas.openxmlformats.org/drawingml/2006/main">
              <a:ext uri="{FF2B5EF4-FFF2-40B4-BE49-F238E27FC236}">
                <a16:creationId xmlns:a16="http://schemas.microsoft.com/office/drawing/2014/main" id="{BEFA1956-ADFE-4C56-BC3F-10C320E9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43325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A2E35"/>
                </a:solidFill>
                <a:latin typeface="Arial"/>
                <a:ea typeface="Arial"/>
                <a:cs typeface="Arial"/>
              </a:rPr>
              <a:t>typical SME FX markup range cited in cross-border payment research</a:t>
            </a:r>
          </a:p>
        </p:txBody>
      </p:sp>
      <p:sp>
        <p:nvSpPr>
          <p:cNvPr id="19" name="txt-37">
            <a:extLst xmlns:a="http://schemas.openxmlformats.org/drawingml/2006/main">
              <a:ext uri="{FF2B5EF4-FFF2-40B4-BE49-F238E27FC236}">
                <a16:creationId xmlns:a16="http://schemas.microsoft.com/office/drawing/2014/main" id="{FCD0B11A-8DA9-41F5-8128-6CE3F204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Operational exposure compounds when payments bypass a reserve policy or rely on exact-string invoice matching.</a:t>
            </a:r>
          </a:p>
        </p:txBody>
      </p:sp>
      <p:sp>
        <p:nvSpPr>
          <p:cNvPr id="20" name="txt-38">
            <a:extLst xmlns:a="http://schemas.openxmlformats.org/drawingml/2006/main">
              <a:ext uri="{FF2B5EF4-FFF2-40B4-BE49-F238E27FC236}">
                <a16:creationId xmlns:a16="http://schemas.microsoft.com/office/drawing/2014/main" id="{20120158-9013-49D3-8E02-E3266E8D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A82"/>
                </a:solidFill>
                <a:latin typeface="Arial"/>
                <a:ea typeface="Arial"/>
                <a:cs typeface="Arial"/>
              </a:rPr>
              <a:t>Sources: Federal Reserve Small Business Credit Survey; IOFM and SAP Concur SMB research; BIS CPMI Roadmap</a:t>
            </a:r>
          </a:p>
        </p:txBody>
      </p:sp>
    </p:spTree>
    <p:extLst>
      <p:ext uri="{BB962C8B-B14F-4D97-AF65-F5344CB8AC3E}">
        <p14:creationId xmlns:p14="http://schemas.microsoft.com/office/powerpoint/2010/main" val="4550110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ag-39">
            <a:extLst xmlns:a="http://schemas.openxmlformats.org/drawingml/2006/main">
              <a:ext uri="{FF2B5EF4-FFF2-40B4-BE49-F238E27FC236}">
                <a16:creationId xmlns:a16="http://schemas.microsoft.com/office/drawing/2014/main" id="{0038ED4E-7BF8-4160-B2CA-7919D2FA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35E1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5E1C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5E1C1"/>
                </a:solidFill>
                <a:latin typeface="Arial"/>
                <a:ea typeface="Arial"/>
                <a:cs typeface="Arial"/>
              </a:rPr>
              <a:t>THE SOLUTION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4C48F49F-7400-4A80-8A2A-C7A5C0B2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FlowGuard turns payment approval into a policy-checked decision</a:t>
            </a:r>
          </a:p>
        </p:txBody>
      </p:sp>
      <p:sp>
        <p:nvSpPr>
          <p:cNvPr id="3" name="txt-40">
            <a:extLst xmlns:a="http://schemas.openxmlformats.org/drawingml/2006/main">
              <a:ext uri="{FF2B5EF4-FFF2-40B4-BE49-F238E27FC236}">
                <a16:creationId xmlns:a16="http://schemas.microsoft.com/office/drawing/2014/main" id="{A283D945-B147-422D-91E1-92408381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A82"/>
                </a:solidFill>
                <a:latin typeface="Arial"/>
                <a:ea typeface="Arial"/>
                <a:cs typeface="Arial"/>
              </a:rPr>
              <a:t>Each payment plan must preserve liquidity, clear duplicate controls, and carry a verifiable intent record.</a:t>
            </a:r>
          </a:p>
        </p:txBody>
      </p:sp>
      <p:sp>
        <p:nvSpPr>
          <p:cNvPr id="4" name="rule-41">
            <a:extLst xmlns:a="http://schemas.openxmlformats.org/drawingml/2006/main">
              <a:ext uri="{FF2B5EF4-FFF2-40B4-BE49-F238E27FC236}">
                <a16:creationId xmlns:a16="http://schemas.microsoft.com/office/drawing/2014/main" id="{C939522D-BCD1-4F2C-9F8A-E2C5527A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BDD"/>
          </a:solidFill>
          <a:ln xmlns:a="http://schemas.openxmlformats.org/drawingml/2006/main" w="0">
            <a:solidFill>
              <a:srgbClr val="CBDBDD"/>
            </a:solidFill>
            <a:prstDash val="solid"/>
          </a:ln>
        </p:spPr>
      </p:sp>
      <p:sp>
        <p:nvSpPr>
          <p:cNvPr id="5" name="txt-42">
            <a:extLst xmlns:a="http://schemas.openxmlformats.org/drawingml/2006/main">
              <a:ext uri="{FF2B5EF4-FFF2-40B4-BE49-F238E27FC236}">
                <a16:creationId xmlns:a16="http://schemas.microsoft.com/office/drawing/2014/main" id="{CCD9A54A-2FCF-4EB6-A769-1D50F070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A82"/>
                </a:solidFill>
                <a:latin typeface="Arial"/>
                <a:ea typeface="Arial"/>
                <a:cs typeface="Arial"/>
              </a:rPr>
              <a:t>FLOWGUARD</a:t>
            </a:r>
          </a:p>
        </p:txBody>
      </p:sp>
      <p:sp>
        <p:nvSpPr>
          <p:cNvPr id="6" name="txt-43">
            <a:extLst xmlns:a="http://schemas.openxmlformats.org/drawingml/2006/main">
              <a:ext uri="{FF2B5EF4-FFF2-40B4-BE49-F238E27FC236}">
                <a16:creationId xmlns:a16="http://schemas.microsoft.com/office/drawing/2014/main" id="{4BEE0826-8266-4879-975C-AC88E877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A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rule-44">
            <a:extLst xmlns:a="http://schemas.openxmlformats.org/drawingml/2006/main">
              <a:ext uri="{FF2B5EF4-FFF2-40B4-BE49-F238E27FC236}">
                <a16:creationId xmlns:a16="http://schemas.microsoft.com/office/drawing/2014/main" id="{EF26405D-B11B-46CD-9A5E-4144264D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29000"/>
            <a:ext cx="895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BDD"/>
          </a:solidFill>
          <a:ln xmlns:a="http://schemas.openxmlformats.org/drawingml/2006/main" w="0">
            <a:solidFill>
              <a:srgbClr val="CBDBDD"/>
            </a:solidFill>
            <a:prstDash val="solid"/>
          </a:ln>
        </p:spPr>
      </p:sp>
      <p:sp>
        <p:nvSpPr>
          <p:cNvPr id="8" name="shape-45">
            <a:extLst xmlns:a="http://schemas.openxmlformats.org/drawingml/2006/main">
              <a:ext uri="{FF2B5EF4-FFF2-40B4-BE49-F238E27FC236}">
                <a16:creationId xmlns:a16="http://schemas.microsoft.com/office/drawing/2014/main" id="{6D894F77-17DE-4224-BDAE-90FE1585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71850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BDD"/>
          </a:solidFill>
          <a:ln xmlns:a="http://schemas.openxmlformats.org/drawingml/2006/main" w="0">
            <a:solidFill>
              <a:srgbClr val="CBDBDD"/>
            </a:solidFill>
            <a:prstDash val="solid"/>
          </a:ln>
        </p:spPr>
      </p:sp>
      <p:sp>
        <p:nvSpPr>
          <p:cNvPr id="9" name="shape-46">
            <a:extLst xmlns:a="http://schemas.openxmlformats.org/drawingml/2006/main">
              <a:ext uri="{FF2B5EF4-FFF2-40B4-BE49-F238E27FC236}">
                <a16:creationId xmlns:a16="http://schemas.microsoft.com/office/drawing/2014/main" id="{19C85DD1-ECA3-4110-A421-94AFFF42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76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1C1"/>
          </a:solidFill>
          <a:ln xmlns:a="http://schemas.openxmlformats.org/drawingml/2006/main" w="0">
            <a:solidFill>
              <a:srgbClr val="35E1C1"/>
            </a:solidFill>
            <a:prstDash val="solid"/>
          </a:ln>
        </p:spPr>
      </p:sp>
      <p:sp>
        <p:nvSpPr>
          <p:cNvPr id="10" name="txt-47">
            <a:extLst xmlns:a="http://schemas.openxmlformats.org/drawingml/2006/main">
              <a:ext uri="{FF2B5EF4-FFF2-40B4-BE49-F238E27FC236}">
                <a16:creationId xmlns:a16="http://schemas.microsoft.com/office/drawing/2014/main" id="{C1D21951-3D4F-43DD-8CEA-24D28D3E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xt-48">
            <a:extLst xmlns:a="http://schemas.openxmlformats.org/drawingml/2006/main">
              <a:ext uri="{FF2B5EF4-FFF2-40B4-BE49-F238E27FC236}">
                <a16:creationId xmlns:a16="http://schemas.microsoft.com/office/drawing/2014/main" id="{8C6EB894-598C-409D-A18F-56953EE8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Protect cash</a:t>
            </a:r>
          </a:p>
        </p:txBody>
      </p:sp>
      <p:sp>
        <p:nvSpPr>
          <p:cNvPr id="12" name="txt-49">
            <a:extLst xmlns:a="http://schemas.openxmlformats.org/drawingml/2006/main">
              <a:ext uri="{FF2B5EF4-FFF2-40B4-BE49-F238E27FC236}">
                <a16:creationId xmlns:a16="http://schemas.microsoft.com/office/drawing/2014/main" id="{CFA08EA0-4615-4C31-9B9C-4191A5D6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624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A2E35"/>
                </a:solidFill>
                <a:latin typeface="Arial"/>
                <a:ea typeface="Arial"/>
                <a:cs typeface="Arial"/>
              </a:rPr>
              <a:t>Maintains a configurable USD reserve floor before funds leave a wallet.</a:t>
            </a:r>
          </a:p>
        </p:txBody>
      </p:sp>
      <p:sp>
        <p:nvSpPr>
          <p:cNvPr id="13" name="shape-50">
            <a:extLst xmlns:a="http://schemas.openxmlformats.org/drawingml/2006/main">
              <a:ext uri="{FF2B5EF4-FFF2-40B4-BE49-F238E27FC236}">
                <a16:creationId xmlns:a16="http://schemas.microsoft.com/office/drawing/2014/main" id="{CC8B21CC-278B-4C17-96AD-A45EDCF2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76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56B"/>
          </a:solidFill>
          <a:ln xmlns:a="http://schemas.openxmlformats.org/drawingml/2006/main" w="0">
            <a:solidFill>
              <a:srgbClr val="FF756B"/>
            </a:solidFill>
            <a:prstDash val="solid"/>
          </a:ln>
        </p:spPr>
      </p:sp>
      <p:sp>
        <p:nvSpPr>
          <p:cNvPr id="14" name="txt-51">
            <a:extLst xmlns:a="http://schemas.openxmlformats.org/drawingml/2006/main">
              <a:ext uri="{FF2B5EF4-FFF2-40B4-BE49-F238E27FC236}">
                <a16:creationId xmlns:a16="http://schemas.microsoft.com/office/drawing/2014/main" id="{F0959096-781F-4B54-ABEA-75CE8634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xt-52">
            <a:extLst xmlns:a="http://schemas.openxmlformats.org/drawingml/2006/main">
              <a:ext uri="{FF2B5EF4-FFF2-40B4-BE49-F238E27FC236}">
                <a16:creationId xmlns:a16="http://schemas.microsoft.com/office/drawing/2014/main" id="{49849470-6A44-413F-B43A-BBF7EDC0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43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Identify duplicates</a:t>
            </a:r>
          </a:p>
        </p:txBody>
      </p:sp>
      <p:sp>
        <p:nvSpPr>
          <p:cNvPr id="16" name="txt-53">
            <a:extLst xmlns:a="http://schemas.openxmlformats.org/drawingml/2006/main">
              <a:ext uri="{FF2B5EF4-FFF2-40B4-BE49-F238E27FC236}">
                <a16:creationId xmlns:a16="http://schemas.microsoft.com/office/drawing/2014/main" id="{1F243787-F47A-4B78-98B2-1B412540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624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A2E35"/>
                </a:solidFill>
                <a:latin typeface="Arial"/>
                <a:ea typeface="Arial"/>
                <a:cs typeface="Arial"/>
              </a:rPr>
              <a:t>Detects exact, fuzzy, and proximity matches before payment can proceed.</a:t>
            </a:r>
          </a:p>
        </p:txBody>
      </p:sp>
      <p:sp>
        <p:nvSpPr>
          <p:cNvPr id="17" name="shape-54">
            <a:extLst xmlns:a="http://schemas.openxmlformats.org/drawingml/2006/main">
              <a:ext uri="{FF2B5EF4-FFF2-40B4-BE49-F238E27FC236}">
                <a16:creationId xmlns:a16="http://schemas.microsoft.com/office/drawing/2014/main" id="{565D47DF-C673-4CD2-A951-9A592BF9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6D"/>
          </a:solidFill>
          <a:ln xmlns:a="http://schemas.openxmlformats.org/drawingml/2006/main" w="0">
            <a:solidFill>
              <a:srgbClr val="FFC66D"/>
            </a:solidFill>
            <a:prstDash val="solid"/>
          </a:ln>
        </p:spPr>
      </p:sp>
      <p:sp>
        <p:nvSpPr>
          <p:cNvPr id="18" name="txt-55">
            <a:extLst xmlns:a="http://schemas.openxmlformats.org/drawingml/2006/main">
              <a:ext uri="{FF2B5EF4-FFF2-40B4-BE49-F238E27FC236}">
                <a16:creationId xmlns:a16="http://schemas.microsoft.com/office/drawing/2014/main" id="{6092568B-2A25-453C-824E-9F393C9F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xt-56">
            <a:extLst xmlns:a="http://schemas.openxmlformats.org/drawingml/2006/main">
              <a:ext uri="{FF2B5EF4-FFF2-40B4-BE49-F238E27FC236}">
                <a16:creationId xmlns:a16="http://schemas.microsoft.com/office/drawing/2014/main" id="{EC765035-D2A3-4FD5-BD99-6502CAD5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Bind intent</a:t>
            </a:r>
          </a:p>
        </p:txBody>
      </p:sp>
      <p:sp>
        <p:nvSpPr>
          <p:cNvPr id="20" name="txt-57">
            <a:extLst xmlns:a="http://schemas.openxmlformats.org/drawingml/2006/main">
              <a:ext uri="{FF2B5EF4-FFF2-40B4-BE49-F238E27FC236}">
                <a16:creationId xmlns:a16="http://schemas.microsoft.com/office/drawing/2014/main" id="{540F85E0-E75D-48EC-BDFC-DC8C51B3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624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A2E35"/>
                </a:solidFill>
                <a:latin typeface="Arial"/>
                <a:ea typeface="Arial"/>
                <a:cs typeface="Arial"/>
              </a:rPr>
              <a:t>Links approval to a cryptographic plan hash and immutable audit record.</a:t>
            </a:r>
          </a:p>
        </p:txBody>
      </p:sp>
      <p:sp>
        <p:nvSpPr>
          <p:cNvPr id="21" name="shape-58">
            <a:extLst xmlns:a="http://schemas.openxmlformats.org/drawingml/2006/main">
              <a:ext uri="{FF2B5EF4-FFF2-40B4-BE49-F238E27FC236}">
                <a16:creationId xmlns:a16="http://schemas.microsoft.com/office/drawing/2014/main" id="{446EE415-FB6A-44C2-83B9-5790F073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108204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71A26"/>
          </a:solidFill>
          <a:ln xmlns:a="http://schemas.openxmlformats.org/drawingml/2006/main" w="0">
            <a:solidFill>
              <a:srgbClr val="071A26"/>
            </a:solidFill>
            <a:prstDash val="solid"/>
          </a:ln>
        </p:spPr>
      </p:sp>
      <p:sp>
        <p:nvSpPr>
          <p:cNvPr id="22" name="txt-59">
            <a:extLst xmlns:a="http://schemas.openxmlformats.org/drawingml/2006/main">
              <a:ext uri="{FF2B5EF4-FFF2-40B4-BE49-F238E27FC236}">
                <a16:creationId xmlns:a16="http://schemas.microsoft.com/office/drawing/2014/main" id="{968AFAB9-9E66-4132-BFE0-9D37504C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Result: a payment is explainable before it is executable.</a:t>
            </a:r>
          </a:p>
        </p:txBody>
      </p:sp>
    </p:spTree>
    <p:extLst>
      <p:ext uri="{BB962C8B-B14F-4D97-AF65-F5344CB8AC3E}">
        <p14:creationId xmlns:p14="http://schemas.microsoft.com/office/powerpoint/2010/main" val="7123631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ag-60">
            <a:extLst xmlns:a="http://schemas.openxmlformats.org/drawingml/2006/main">
              <a:ext uri="{FF2B5EF4-FFF2-40B4-BE49-F238E27FC236}">
                <a16:creationId xmlns:a16="http://schemas.microsoft.com/office/drawing/2014/main" id="{936F8B45-E615-4537-9C3A-C87937C6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35E1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5E1C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5E1C1"/>
                </a:solidFill>
                <a:latin typeface="Arial"/>
                <a:ea typeface="Arial"/>
                <a:cs typeface="Arial"/>
              </a:rPr>
              <a:t>TREASURY DECISIONING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5C26F1C-829B-4830-BBCF-79121EB7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The reserve floor determines whether an invoice can move today</a:t>
            </a:r>
          </a:p>
        </p:txBody>
      </p:sp>
      <p:sp>
        <p:nvSpPr>
          <p:cNvPr id="3" name="txt-61">
            <a:extLst xmlns:a="http://schemas.openxmlformats.org/drawingml/2006/main">
              <a:ext uri="{FF2B5EF4-FFF2-40B4-BE49-F238E27FC236}">
                <a16:creationId xmlns:a16="http://schemas.microsoft.com/office/drawing/2014/main" id="{2A9AA2AE-8C0F-4D30-867B-200F95CC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A82"/>
                </a:solidFill>
                <a:latin typeface="Arial"/>
                <a:ea typeface="Arial"/>
                <a:cs typeface="Arial"/>
              </a:rPr>
              <a:t>The engine calculates a projected base-currency balance before it recommends a payout.</a:t>
            </a:r>
          </a:p>
        </p:txBody>
      </p:sp>
      <p:sp>
        <p:nvSpPr>
          <p:cNvPr id="4" name="rule-62">
            <a:extLst xmlns:a="http://schemas.openxmlformats.org/drawingml/2006/main">
              <a:ext uri="{FF2B5EF4-FFF2-40B4-BE49-F238E27FC236}">
                <a16:creationId xmlns:a16="http://schemas.microsoft.com/office/drawing/2014/main" id="{18122CE0-D815-4EAB-B3FD-EB05EA59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BDD"/>
          </a:solidFill>
          <a:ln xmlns:a="http://schemas.openxmlformats.org/drawingml/2006/main" w="0">
            <a:solidFill>
              <a:srgbClr val="CBDBDD"/>
            </a:solidFill>
            <a:prstDash val="solid"/>
          </a:ln>
        </p:spPr>
      </p:sp>
      <p:sp>
        <p:nvSpPr>
          <p:cNvPr id="5" name="txt-63">
            <a:extLst xmlns:a="http://schemas.openxmlformats.org/drawingml/2006/main">
              <a:ext uri="{FF2B5EF4-FFF2-40B4-BE49-F238E27FC236}">
                <a16:creationId xmlns:a16="http://schemas.microsoft.com/office/drawing/2014/main" id="{603F363F-4C72-49D8-BC3D-DF006D47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A82"/>
                </a:solidFill>
                <a:latin typeface="Arial"/>
                <a:ea typeface="Arial"/>
                <a:cs typeface="Arial"/>
              </a:rPr>
              <a:t>FLOWGUARD</a:t>
            </a:r>
          </a:p>
        </p:txBody>
      </p:sp>
      <p:sp>
        <p:nvSpPr>
          <p:cNvPr id="6" name="txt-64">
            <a:extLst xmlns:a="http://schemas.openxmlformats.org/drawingml/2006/main">
              <a:ext uri="{FF2B5EF4-FFF2-40B4-BE49-F238E27FC236}">
                <a16:creationId xmlns:a16="http://schemas.microsoft.com/office/drawing/2014/main" id="{03E402F6-C921-4532-9AC5-2B9EDD15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A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shape-65">
            <a:extLst xmlns:a="http://schemas.openxmlformats.org/drawingml/2006/main">
              <a:ext uri="{FF2B5EF4-FFF2-40B4-BE49-F238E27FC236}">
                <a16:creationId xmlns:a16="http://schemas.microsoft.com/office/drawing/2014/main" id="{C10D776A-7C21-419A-A603-A6D87C8B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071A26"/>
          </a:solidFill>
          <a:ln xmlns:a="http://schemas.openxmlformats.org/drawingml/2006/main" w="0">
            <a:solidFill>
              <a:srgbClr val="071A26"/>
            </a:solidFill>
            <a:prstDash val="solid"/>
          </a:ln>
        </p:spPr>
      </p:sp>
      <p:sp>
        <p:nvSpPr>
          <p:cNvPr id="8" name="txt-66">
            <a:extLst xmlns:a="http://schemas.openxmlformats.org/drawingml/2006/main">
              <a:ext uri="{FF2B5EF4-FFF2-40B4-BE49-F238E27FC236}">
                <a16:creationId xmlns:a16="http://schemas.microsoft.com/office/drawing/2014/main" id="{CD80FBA2-21C3-4B40-98A5-6F601D64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35E1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5E1C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E1C1"/>
                </a:solidFill>
                <a:latin typeface="Arial"/>
                <a:ea typeface="Arial"/>
                <a:cs typeface="Arial"/>
              </a:rPr>
              <a:t>Projected balance</a:t>
            </a:r>
          </a:p>
        </p:txBody>
      </p:sp>
      <p:sp>
        <p:nvSpPr>
          <p:cNvPr id="9" name="txt-67">
            <a:extLst xmlns:a="http://schemas.openxmlformats.org/drawingml/2006/main">
              <a:ext uri="{FF2B5EF4-FFF2-40B4-BE49-F238E27FC236}">
                <a16:creationId xmlns:a16="http://schemas.microsoft.com/office/drawing/2014/main" id="{97D9DA40-367F-4185-9843-4886C8A2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= Current liquidity - (Invoice amount x FX rate + corridor fee)</a:t>
            </a:r>
          </a:p>
        </p:txBody>
      </p:sp>
      <p:sp>
        <p:nvSpPr>
          <p:cNvPr id="10" name="shape-68">
            <a:extLst xmlns:a="http://schemas.openxmlformats.org/drawingml/2006/main">
              <a:ext uri="{FF2B5EF4-FFF2-40B4-BE49-F238E27FC236}">
                <a16:creationId xmlns:a16="http://schemas.microsoft.com/office/drawing/2014/main" id="{4AB51ACE-4278-4574-AC9F-8D532405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238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F7F0"/>
          </a:solidFill>
          <a:ln xmlns:a="http://schemas.openxmlformats.org/drawingml/2006/main" w="9525">
            <a:solidFill>
              <a:srgbClr val="CBDBDD"/>
            </a:solidFill>
            <a:prstDash val="solid"/>
          </a:ln>
        </p:spPr>
      </p:sp>
      <p:sp>
        <p:nvSpPr>
          <p:cNvPr id="11" name="txt-69">
            <a:extLst xmlns:a="http://schemas.openxmlformats.org/drawingml/2006/main">
              <a:ext uri="{FF2B5EF4-FFF2-40B4-BE49-F238E27FC236}">
                <a16:creationId xmlns:a16="http://schemas.microsoft.com/office/drawing/2014/main" id="{E6455160-80DC-4CE9-B822-1C6C311A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191000"/>
            <a:ext cx="266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A82"/>
                </a:solidFill>
                <a:latin typeface="Arial"/>
                <a:ea typeface="Arial"/>
                <a:cs typeface="Arial"/>
              </a:rPr>
              <a:t>CURRENT LIQUIDITY</a:t>
            </a:r>
          </a:p>
        </p:txBody>
      </p:sp>
      <p:sp>
        <p:nvSpPr>
          <p:cNvPr id="12" name="txt-70">
            <a:extLst xmlns:a="http://schemas.openxmlformats.org/drawingml/2006/main">
              <a:ext uri="{FF2B5EF4-FFF2-40B4-BE49-F238E27FC236}">
                <a16:creationId xmlns:a16="http://schemas.microsoft.com/office/drawing/2014/main" id="{8B3BC494-C31B-41BA-85AF-647449F6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514850"/>
            <a:ext cx="2714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$33,110</a:t>
            </a:r>
          </a:p>
        </p:txBody>
      </p:sp>
      <p:sp>
        <p:nvSpPr>
          <p:cNvPr id="13" name="shape-71">
            <a:extLst xmlns:a="http://schemas.openxmlformats.org/drawingml/2006/main">
              <a:ext uri="{FF2B5EF4-FFF2-40B4-BE49-F238E27FC236}">
                <a16:creationId xmlns:a16="http://schemas.microsoft.com/office/drawing/2014/main" id="{D1BBE4CF-6770-4A68-B408-56EABE20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43350"/>
            <a:ext cx="3238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FD1"/>
          </a:solidFill>
          <a:ln xmlns:a="http://schemas.openxmlformats.org/drawingml/2006/main" w="9525">
            <a:solidFill>
              <a:srgbClr val="CBDBDD"/>
            </a:solidFill>
            <a:prstDash val="solid"/>
          </a:ln>
        </p:spPr>
      </p:sp>
      <p:sp>
        <p:nvSpPr>
          <p:cNvPr id="14" name="txt-72">
            <a:extLst xmlns:a="http://schemas.openxmlformats.org/drawingml/2006/main">
              <a:ext uri="{FF2B5EF4-FFF2-40B4-BE49-F238E27FC236}">
                <a16:creationId xmlns:a16="http://schemas.microsoft.com/office/drawing/2014/main" id="{272D112E-71CB-4BD2-A6B6-00303A1D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91000"/>
            <a:ext cx="266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A82"/>
                </a:solidFill>
                <a:latin typeface="Arial"/>
                <a:ea typeface="Arial"/>
                <a:cs typeface="Arial"/>
              </a:rPr>
              <a:t>RESERVE FLOOR</a:t>
            </a:r>
          </a:p>
        </p:txBody>
      </p:sp>
      <p:sp>
        <p:nvSpPr>
          <p:cNvPr id="15" name="txt-73">
            <a:extLst xmlns:a="http://schemas.openxmlformats.org/drawingml/2006/main">
              <a:ext uri="{FF2B5EF4-FFF2-40B4-BE49-F238E27FC236}">
                <a16:creationId xmlns:a16="http://schemas.microsoft.com/office/drawing/2014/main" id="{94E58600-1430-4158-A045-EBBA9315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514850"/>
            <a:ext cx="2714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$15,000</a:t>
            </a:r>
          </a:p>
        </p:txBody>
      </p:sp>
      <p:sp>
        <p:nvSpPr>
          <p:cNvPr id="16" name="shape-74">
            <a:extLst xmlns:a="http://schemas.openxmlformats.org/drawingml/2006/main">
              <a:ext uri="{FF2B5EF4-FFF2-40B4-BE49-F238E27FC236}">
                <a16:creationId xmlns:a16="http://schemas.microsoft.com/office/drawing/2014/main" id="{DD7EE8E5-9611-4C22-9901-F5BE7268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43350"/>
            <a:ext cx="3238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E3B"/>
          </a:solidFill>
          <a:ln xmlns:a="http://schemas.openxmlformats.org/drawingml/2006/main" w="9525">
            <a:solidFill>
              <a:srgbClr val="0D2E3B"/>
            </a:solidFill>
            <a:prstDash val="solid"/>
          </a:ln>
        </p:spPr>
      </p:sp>
      <p:sp>
        <p:nvSpPr>
          <p:cNvPr id="17" name="txt-75">
            <a:extLst xmlns:a="http://schemas.openxmlformats.org/drawingml/2006/main">
              <a:ext uri="{FF2B5EF4-FFF2-40B4-BE49-F238E27FC236}">
                <a16:creationId xmlns:a16="http://schemas.microsoft.com/office/drawing/2014/main" id="{86610AB2-3507-4F45-BEEE-404BD681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191000"/>
            <a:ext cx="266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A8F4D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A8F4D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8F4DE"/>
                </a:solidFill>
                <a:latin typeface="Arial"/>
                <a:ea typeface="Arial"/>
                <a:cs typeface="Arial"/>
              </a:rPr>
              <a:t>PAYMENT OUTCOME</a:t>
            </a:r>
          </a:p>
        </p:txBody>
      </p:sp>
      <p:sp>
        <p:nvSpPr>
          <p:cNvPr id="18" name="txt-76">
            <a:extLst xmlns:a="http://schemas.openxmlformats.org/drawingml/2006/main">
              <a:ext uri="{FF2B5EF4-FFF2-40B4-BE49-F238E27FC236}">
                <a16:creationId xmlns:a16="http://schemas.microsoft.com/office/drawing/2014/main" id="{C5332D5F-8F91-48F0-92B2-3ABC6317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514850"/>
            <a:ext cx="2714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PAY NOW or DEFER</a:t>
            </a:r>
          </a:p>
        </p:txBody>
      </p:sp>
      <p:sp>
        <p:nvSpPr>
          <p:cNvPr id="19" name="txt-77">
            <a:extLst xmlns:a="http://schemas.openxmlformats.org/drawingml/2006/main">
              <a:ext uri="{FF2B5EF4-FFF2-40B4-BE49-F238E27FC236}">
                <a16:creationId xmlns:a16="http://schemas.microsoft.com/office/drawing/2014/main" id="{B34199BE-4F92-4FC1-8438-CBD6945C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A2E35"/>
                </a:solidFill>
                <a:latin typeface="Arial"/>
                <a:ea typeface="Arial"/>
                <a:cs typeface="Arial"/>
              </a:rPr>
              <a:t>Scenario A begins with $33,110 across four wallets and a $15,000 reserve floor. Critical invoices can pay, lower-priority obligations defer when the floor is threatened.</a:t>
            </a:r>
          </a:p>
        </p:txBody>
      </p:sp>
    </p:spTree>
    <p:extLst>
      <p:ext uri="{BB962C8B-B14F-4D97-AF65-F5344CB8AC3E}">
        <p14:creationId xmlns:p14="http://schemas.microsoft.com/office/powerpoint/2010/main" val="6808927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ag-78">
            <a:extLst xmlns:a="http://schemas.openxmlformats.org/drawingml/2006/main">
              <a:ext uri="{FF2B5EF4-FFF2-40B4-BE49-F238E27FC236}">
                <a16:creationId xmlns:a16="http://schemas.microsoft.com/office/drawing/2014/main" id="{31B2F153-0251-413D-AC09-3E73346F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35E1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5E1C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5E1C1"/>
                </a:solidFill>
                <a:latin typeface="Arial"/>
                <a:ea typeface="Arial"/>
                <a:cs typeface="Arial"/>
              </a:rPr>
              <a:t>AP DUPLICATE DEFENSE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598FB7E-0FC3-4F92-B002-B8EB727A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A near-match invoice does not reach the payment rail</a:t>
            </a:r>
          </a:p>
        </p:txBody>
      </p:sp>
      <p:sp>
        <p:nvSpPr>
          <p:cNvPr id="3" name="txt-79">
            <a:extLst xmlns:a="http://schemas.openxmlformats.org/drawingml/2006/main">
              <a:ext uri="{FF2B5EF4-FFF2-40B4-BE49-F238E27FC236}">
                <a16:creationId xmlns:a16="http://schemas.microsoft.com/office/drawing/2014/main" id="{C0E6AE02-B52E-42D1-AE5E-1385539F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A82"/>
                </a:solidFill>
                <a:latin typeface="Arial"/>
                <a:ea typeface="Arial"/>
                <a:cs typeface="Arial"/>
              </a:rPr>
              <a:t>FlowGuard combines deterministic checks that conventional exact matching misses.</a:t>
            </a:r>
          </a:p>
        </p:txBody>
      </p:sp>
      <p:sp>
        <p:nvSpPr>
          <p:cNvPr id="4" name="rule-80">
            <a:extLst xmlns:a="http://schemas.openxmlformats.org/drawingml/2006/main">
              <a:ext uri="{FF2B5EF4-FFF2-40B4-BE49-F238E27FC236}">
                <a16:creationId xmlns:a16="http://schemas.microsoft.com/office/drawing/2014/main" id="{EEA866EB-DEAB-48FC-A163-76120795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BDD"/>
          </a:solidFill>
          <a:ln xmlns:a="http://schemas.openxmlformats.org/drawingml/2006/main" w="0">
            <a:solidFill>
              <a:srgbClr val="CBDBDD"/>
            </a:solidFill>
            <a:prstDash val="solid"/>
          </a:ln>
        </p:spPr>
      </p:sp>
      <p:sp>
        <p:nvSpPr>
          <p:cNvPr id="5" name="txt-81">
            <a:extLst xmlns:a="http://schemas.openxmlformats.org/drawingml/2006/main">
              <a:ext uri="{FF2B5EF4-FFF2-40B4-BE49-F238E27FC236}">
                <a16:creationId xmlns:a16="http://schemas.microsoft.com/office/drawing/2014/main" id="{E91C9A7B-14C4-4CE6-9EC7-6271A30F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A82"/>
                </a:solidFill>
                <a:latin typeface="Arial"/>
                <a:ea typeface="Arial"/>
                <a:cs typeface="Arial"/>
              </a:rPr>
              <a:t>FLOWGUARD</a:t>
            </a:r>
          </a:p>
        </p:txBody>
      </p:sp>
      <p:sp>
        <p:nvSpPr>
          <p:cNvPr id="6" name="txt-82">
            <a:extLst xmlns:a="http://schemas.openxmlformats.org/drawingml/2006/main">
              <a:ext uri="{FF2B5EF4-FFF2-40B4-BE49-F238E27FC236}">
                <a16:creationId xmlns:a16="http://schemas.microsoft.com/office/drawing/2014/main" id="{EF6742A8-AAFE-43E7-8A3A-4CF15874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A8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shape-83">
            <a:extLst xmlns:a="http://schemas.openxmlformats.org/drawingml/2006/main">
              <a:ext uri="{FF2B5EF4-FFF2-40B4-BE49-F238E27FC236}">
                <a16:creationId xmlns:a16="http://schemas.microsoft.com/office/drawing/2014/main" id="{921EA048-22AA-4182-A4F5-A6F7B595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04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5E1C1"/>
          </a:solidFill>
          <a:ln xmlns:a="http://schemas.openxmlformats.org/drawingml/2006/main" w="0">
            <a:solidFill>
              <a:srgbClr val="35E1C1"/>
            </a:solidFill>
            <a:prstDash val="solid"/>
          </a:ln>
        </p:spPr>
      </p:sp>
      <p:sp>
        <p:nvSpPr>
          <p:cNvPr id="8" name="txt-84">
            <a:extLst xmlns:a="http://schemas.openxmlformats.org/drawingml/2006/main">
              <a:ext uri="{FF2B5EF4-FFF2-40B4-BE49-F238E27FC236}">
                <a16:creationId xmlns:a16="http://schemas.microsoft.com/office/drawing/2014/main" id="{242EE9A3-B1EB-427E-96CC-92B75BF6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txt-85">
            <a:extLst xmlns:a="http://schemas.openxmlformats.org/drawingml/2006/main">
              <a:ext uri="{FF2B5EF4-FFF2-40B4-BE49-F238E27FC236}">
                <a16:creationId xmlns:a16="http://schemas.microsoft.com/office/drawing/2014/main" id="{E06C6903-62EF-432E-961A-FCBF85D8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2193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Normalized exact match</a:t>
            </a:r>
          </a:p>
        </p:txBody>
      </p:sp>
      <p:sp>
        <p:nvSpPr>
          <p:cNvPr id="10" name="txt-86">
            <a:extLst xmlns:a="http://schemas.openxmlformats.org/drawingml/2006/main">
              <a:ext uri="{FF2B5EF4-FFF2-40B4-BE49-F238E27FC236}">
                <a16:creationId xmlns:a16="http://schemas.microsoft.com/office/drawing/2014/main" id="{A9D0179B-52D6-4F4E-8AFB-8E5C18A6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2412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E35"/>
                </a:solidFill>
                <a:latin typeface="Arial"/>
                <a:ea typeface="Arial"/>
                <a:cs typeface="Arial"/>
              </a:rPr>
              <a:t>Removes punctuation, slashes, and spaces before comparison</a:t>
            </a:r>
          </a:p>
        </p:txBody>
      </p:sp>
      <p:sp>
        <p:nvSpPr>
          <p:cNvPr id="11" name="shape-87">
            <a:extLst xmlns:a="http://schemas.openxmlformats.org/drawingml/2006/main">
              <a:ext uri="{FF2B5EF4-FFF2-40B4-BE49-F238E27FC236}">
                <a16:creationId xmlns:a16="http://schemas.microsoft.com/office/drawing/2014/main" id="{6D6B8E57-1198-410C-835F-834A4D02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904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C66D"/>
          </a:solidFill>
          <a:ln xmlns:a="http://schemas.openxmlformats.org/drawingml/2006/main" w="0">
            <a:solidFill>
              <a:srgbClr val="FFC66D"/>
            </a:solidFill>
            <a:prstDash val="solid"/>
          </a:ln>
        </p:spPr>
      </p:sp>
      <p:sp>
        <p:nvSpPr>
          <p:cNvPr id="12" name="txt-88">
            <a:extLst xmlns:a="http://schemas.openxmlformats.org/drawingml/2006/main">
              <a:ext uri="{FF2B5EF4-FFF2-40B4-BE49-F238E27FC236}">
                <a16:creationId xmlns:a16="http://schemas.microsoft.com/office/drawing/2014/main" id="{B73FF1E0-0689-4D9A-9821-E26AD0C4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txt-89">
            <a:extLst xmlns:a="http://schemas.openxmlformats.org/drawingml/2006/main">
              <a:ext uri="{FF2B5EF4-FFF2-40B4-BE49-F238E27FC236}">
                <a16:creationId xmlns:a16="http://schemas.microsoft.com/office/drawing/2014/main" id="{DEE866E5-8211-4ABE-8FEA-589D1154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956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Fuzzy identifier match</a:t>
            </a:r>
          </a:p>
        </p:txBody>
      </p:sp>
      <p:sp>
        <p:nvSpPr>
          <p:cNvPr id="14" name="txt-90">
            <a:extLst xmlns:a="http://schemas.openxmlformats.org/drawingml/2006/main">
              <a:ext uri="{FF2B5EF4-FFF2-40B4-BE49-F238E27FC236}">
                <a16:creationId xmlns:a16="http://schemas.microsoft.com/office/drawing/2014/main" id="{F9EB4A7B-8F9C-433F-A007-35522A28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40042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E35"/>
                </a:solidFill>
                <a:latin typeface="Arial"/>
                <a:ea typeface="Arial"/>
                <a:cs typeface="Arial"/>
              </a:rPr>
              <a:t>Flags Levenshtein distance &lt;= 2 after re-bill suffix handling</a:t>
            </a:r>
          </a:p>
        </p:txBody>
      </p:sp>
      <p:sp>
        <p:nvSpPr>
          <p:cNvPr id="15" name="shape-91">
            <a:extLst xmlns:a="http://schemas.openxmlformats.org/drawingml/2006/main">
              <a:ext uri="{FF2B5EF4-FFF2-40B4-BE49-F238E27FC236}">
                <a16:creationId xmlns:a16="http://schemas.microsoft.com/office/drawing/2014/main" id="{4E3E8FAC-8017-4B0B-8E5A-929725C0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904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756B"/>
          </a:solidFill>
          <a:ln xmlns:a="http://schemas.openxmlformats.org/drawingml/2006/main" w="0">
            <a:solidFill>
              <a:srgbClr val="FF756B"/>
            </a:solidFill>
            <a:prstDash val="solid"/>
          </a:ln>
        </p:spPr>
      </p:sp>
      <p:sp>
        <p:nvSpPr>
          <p:cNvPr id="16" name="txt-92">
            <a:extLst xmlns:a="http://schemas.openxmlformats.org/drawingml/2006/main">
              <a:ext uri="{FF2B5EF4-FFF2-40B4-BE49-F238E27FC236}">
                <a16:creationId xmlns:a16="http://schemas.microsoft.com/office/drawing/2014/main" id="{5AB7346B-7A0B-4DCE-ADEF-0F2B28E0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txt-93">
            <a:extLst xmlns:a="http://schemas.openxmlformats.org/drawingml/2006/main">
              <a:ext uri="{FF2B5EF4-FFF2-40B4-BE49-F238E27FC236}">
                <a16:creationId xmlns:a16="http://schemas.microsoft.com/office/drawing/2014/main" id="{03BD05BA-DF46-4D51-9040-DBD39CAB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9719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Triple-vector proximity</a:t>
            </a:r>
          </a:p>
        </p:txBody>
      </p:sp>
      <p:sp>
        <p:nvSpPr>
          <p:cNvPr id="18" name="txt-94">
            <a:extLst xmlns:a="http://schemas.openxmlformats.org/drawingml/2006/main">
              <a:ext uri="{FF2B5EF4-FFF2-40B4-BE49-F238E27FC236}">
                <a16:creationId xmlns:a16="http://schemas.microsoft.com/office/drawing/2014/main" id="{8ECE41E3-C90C-4FB9-8BA8-783EA279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7672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E35"/>
                </a:solidFill>
                <a:latin typeface="Arial"/>
                <a:ea typeface="Arial"/>
                <a:cs typeface="Arial"/>
              </a:rPr>
              <a:t>Checks vendor, amount, and a 14-day invoice-date window</a:t>
            </a:r>
          </a:p>
        </p:txBody>
      </p:sp>
      <p:sp>
        <p:nvSpPr>
          <p:cNvPr id="19" name="shape-95">
            <a:extLst xmlns:a="http://schemas.openxmlformats.org/drawingml/2006/main">
              <a:ext uri="{FF2B5EF4-FFF2-40B4-BE49-F238E27FC236}">
                <a16:creationId xmlns:a16="http://schemas.microsoft.com/office/drawing/2014/main" id="{0A83725E-8E81-499E-B22F-E7077546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90750"/>
            <a:ext cx="3429000" cy="2638425"/>
          </a:xfrm>
          <a:prstGeom xmlns:a="http://schemas.openxmlformats.org/drawingml/2006/main" prst="roundRect">
            <a:avLst>
              <a:gd name="adj" fmla="val 4332"/>
            </a:avLst>
          </a:prstGeom>
          <a:solidFill xmlns:a="http://schemas.openxmlformats.org/drawingml/2006/main">
            <a:srgbClr val="071A26"/>
          </a:solidFill>
          <a:ln xmlns:a="http://schemas.openxmlformats.org/drawingml/2006/main" w="0">
            <a:solidFill>
              <a:srgbClr val="071A26"/>
            </a:solidFill>
            <a:prstDash val="solid"/>
          </a:ln>
        </p:spPr>
      </p:sp>
      <p:sp>
        <p:nvSpPr>
          <p:cNvPr id="20" name="tag-96">
            <a:extLst xmlns:a="http://schemas.openxmlformats.org/drawingml/2006/main">
              <a:ext uri="{FF2B5EF4-FFF2-40B4-BE49-F238E27FC236}">
                <a16:creationId xmlns:a16="http://schemas.microsoft.com/office/drawing/2014/main" id="{AB4CE8EE-30E0-46E8-B97C-83654D13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336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FF75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75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756B"/>
                </a:solidFill>
                <a:latin typeface="Arial"/>
                <a:ea typeface="Arial"/>
                <a:cs typeface="Arial"/>
              </a:rPr>
              <a:t>SCENARIO B</a:t>
            </a:r>
          </a:p>
        </p:txBody>
      </p:sp>
      <p:sp>
        <p:nvSpPr>
          <p:cNvPr id="21" name="txt-97">
            <a:extLst xmlns:a="http://schemas.openxmlformats.org/drawingml/2006/main">
              <a:ext uri="{FF2B5EF4-FFF2-40B4-BE49-F238E27FC236}">
                <a16:creationId xmlns:a16="http://schemas.microsoft.com/office/drawing/2014/main" id="{9D090C35-590F-45B9-9063-0B221039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76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Bavaria Precision</a:t>
            </a:r>
          </a:p>
        </p:txBody>
      </p:sp>
      <p:sp>
        <p:nvSpPr>
          <p:cNvPr id="22" name="txt-98">
            <a:extLst xmlns:a="http://schemas.openxmlformats.org/drawingml/2006/main">
              <a:ext uri="{FF2B5EF4-FFF2-40B4-BE49-F238E27FC236}">
                <a16:creationId xmlns:a16="http://schemas.microsoft.com/office/drawing/2014/main" id="{21B0CC39-D142-4E7D-BFBF-4020C454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95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C9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C9DAD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9DADD"/>
                </a:solidFill>
                <a:latin typeface="Arial"/>
                <a:ea typeface="Arial"/>
                <a:cs typeface="Arial"/>
              </a:rPr>
              <a:t>INV-2024-884</a:t>
            </a:r>
          </a:p>
        </p:txBody>
      </p:sp>
      <p:sp>
        <p:nvSpPr>
          <p:cNvPr id="23" name="txt-99">
            <a:extLst xmlns:a="http://schemas.openxmlformats.org/drawingml/2006/main">
              <a:ext uri="{FF2B5EF4-FFF2-40B4-BE49-F238E27FC236}">
                <a16:creationId xmlns:a16="http://schemas.microsoft.com/office/drawing/2014/main" id="{F4BB3F1E-6886-47B9-BF0B-E07DD3E7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57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FF75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75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756B"/>
                </a:solidFill>
                <a:latin typeface="Arial"/>
                <a:ea typeface="Arial"/>
                <a:cs typeface="Arial"/>
              </a:rPr>
              <a:t>INV-2024-884B</a:t>
            </a:r>
          </a:p>
        </p:txBody>
      </p:sp>
      <p:sp>
        <p:nvSpPr>
          <p:cNvPr id="24" name="rule-100">
            <a:extLst xmlns:a="http://schemas.openxmlformats.org/drawingml/2006/main">
              <a:ext uri="{FF2B5EF4-FFF2-40B4-BE49-F238E27FC236}">
                <a16:creationId xmlns:a16="http://schemas.microsoft.com/office/drawing/2014/main" id="{2515E34B-A58C-47CA-AFEE-AB878B99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957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160"/>
          </a:solidFill>
          <a:ln xmlns:a="http://schemas.openxmlformats.org/drawingml/2006/main" w="0">
            <a:solidFill>
              <a:srgbClr val="2C5160"/>
            </a:solidFill>
            <a:prstDash val="solid"/>
          </a:ln>
        </p:spPr>
      </p:sp>
      <p:sp>
        <p:nvSpPr>
          <p:cNvPr id="25" name="txt-101">
            <a:extLst xmlns:a="http://schemas.openxmlformats.org/drawingml/2006/main">
              <a:ext uri="{FF2B5EF4-FFF2-40B4-BE49-F238E27FC236}">
                <a16:creationId xmlns:a16="http://schemas.microsoft.com/office/drawing/2014/main" id="{FDD16162-7578-4069-AD44-098FFF84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33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75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F75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756B"/>
                </a:solidFill>
                <a:latin typeface="Arial"/>
                <a:ea typeface="Arial"/>
                <a:cs typeface="Arial"/>
              </a:rPr>
              <a:t>CRITICAL DUPLICATE</a:t>
            </a:r>
          </a:p>
        </p:txBody>
      </p:sp>
      <p:sp>
        <p:nvSpPr>
          <p:cNvPr id="26" name="txt-102">
            <a:extLst xmlns:a="http://schemas.openxmlformats.org/drawingml/2006/main">
              <a:ext uri="{FF2B5EF4-FFF2-40B4-BE49-F238E27FC236}">
                <a16:creationId xmlns:a16="http://schemas.microsoft.com/office/drawing/2014/main" id="{19A54349-5B3B-4E51-B4A1-461B8095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342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Payment blocked</a:t>
            </a:r>
          </a:p>
        </p:txBody>
      </p:sp>
      <p:sp>
        <p:nvSpPr>
          <p:cNvPr id="27" name="txt-103">
            <a:extLst xmlns:a="http://schemas.openxmlformats.org/drawingml/2006/main">
              <a:ext uri="{FF2B5EF4-FFF2-40B4-BE49-F238E27FC236}">
                <a16:creationId xmlns:a16="http://schemas.microsoft.com/office/drawing/2014/main" id="{E71F3C9F-1B54-4ED3-AC64-13E7C897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A82"/>
                </a:solidFill>
                <a:latin typeface="Arial"/>
                <a:ea typeface="Arial"/>
                <a:cs typeface="Arial"/>
              </a:rPr>
              <a:t>The approval path ends before an intent token can be minted.</a:t>
            </a:r>
          </a:p>
        </p:txBody>
      </p:sp>
    </p:spTree>
    <p:extLst>
      <p:ext uri="{BB962C8B-B14F-4D97-AF65-F5344CB8AC3E}">
        <p14:creationId xmlns:p14="http://schemas.microsoft.com/office/powerpoint/2010/main" val="16856419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ag-104">
            <a:extLst xmlns:a="http://schemas.openxmlformats.org/drawingml/2006/main">
              <a:ext uri="{FF2B5EF4-FFF2-40B4-BE49-F238E27FC236}">
                <a16:creationId xmlns:a16="http://schemas.microsoft.com/office/drawing/2014/main" id="{F0E1C9B3-17BD-46A9-8265-5DBBA99D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35E1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5E1C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5E1C1"/>
                </a:solidFill>
                <a:latin typeface="Arial"/>
                <a:ea typeface="Arial"/>
                <a:cs typeface="Arial"/>
              </a:rPr>
              <a:t>INTENT GOVERNANCE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9C982293-E897-4961-8652-BF2E760D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ArmorIQ binds a payment decision to policy and human approval</a:t>
            </a:r>
          </a:p>
        </p:txBody>
      </p:sp>
      <p:sp>
        <p:nvSpPr>
          <p:cNvPr id="3" name="txt-105">
            <a:extLst xmlns:a="http://schemas.openxmlformats.org/drawingml/2006/main">
              <a:ext uri="{FF2B5EF4-FFF2-40B4-BE49-F238E27FC236}">
                <a16:creationId xmlns:a16="http://schemas.microsoft.com/office/drawing/2014/main" id="{B2904210-CE95-4DCE-8401-2C062F2F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A82"/>
                </a:solidFill>
                <a:latin typeface="Arial"/>
                <a:ea typeface="Arial"/>
                <a:cs typeface="Arial"/>
              </a:rPr>
              <a:t>The plan has to pass the guardrails before FlowGuard sends a transfer request.</a:t>
            </a:r>
          </a:p>
        </p:txBody>
      </p:sp>
      <p:sp>
        <p:nvSpPr>
          <p:cNvPr id="4" name="rule-106">
            <a:extLst xmlns:a="http://schemas.openxmlformats.org/drawingml/2006/main">
              <a:ext uri="{FF2B5EF4-FFF2-40B4-BE49-F238E27FC236}">
                <a16:creationId xmlns:a16="http://schemas.microsoft.com/office/drawing/2014/main" id="{83546587-6F3F-4506-8ACA-9A642097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BDD"/>
          </a:solidFill>
          <a:ln xmlns:a="http://schemas.openxmlformats.org/drawingml/2006/main" w="0">
            <a:solidFill>
              <a:srgbClr val="CBDBDD"/>
            </a:solidFill>
            <a:prstDash val="solid"/>
          </a:ln>
        </p:spPr>
      </p:sp>
      <p:sp>
        <p:nvSpPr>
          <p:cNvPr id="5" name="txt-107">
            <a:extLst xmlns:a="http://schemas.openxmlformats.org/drawingml/2006/main">
              <a:ext uri="{FF2B5EF4-FFF2-40B4-BE49-F238E27FC236}">
                <a16:creationId xmlns:a16="http://schemas.microsoft.com/office/drawing/2014/main" id="{191D92DF-E05B-4F09-925A-BD4C1428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A82"/>
                </a:solidFill>
                <a:latin typeface="Arial"/>
                <a:ea typeface="Arial"/>
                <a:cs typeface="Arial"/>
              </a:rPr>
              <a:t>FLOWGUARD</a:t>
            </a:r>
          </a:p>
        </p:txBody>
      </p:sp>
      <p:sp>
        <p:nvSpPr>
          <p:cNvPr id="6" name="txt-108">
            <a:extLst xmlns:a="http://schemas.openxmlformats.org/drawingml/2006/main">
              <a:ext uri="{FF2B5EF4-FFF2-40B4-BE49-F238E27FC236}">
                <a16:creationId xmlns:a16="http://schemas.microsoft.com/office/drawing/2014/main" id="{9D868C8C-31DE-4F2A-A530-8471EAC4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A8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shape-109">
            <a:extLst xmlns:a="http://schemas.openxmlformats.org/drawingml/2006/main">
              <a:ext uri="{FF2B5EF4-FFF2-40B4-BE49-F238E27FC236}">
                <a16:creationId xmlns:a16="http://schemas.microsoft.com/office/drawing/2014/main" id="{F419315C-6681-467B-9566-841B9BD1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4763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FF7F0"/>
          </a:solidFill>
          <a:ln xmlns:a="http://schemas.openxmlformats.org/drawingml/2006/main" w="9525">
            <a:solidFill>
              <a:srgbClr val="CBDBDD"/>
            </a:solidFill>
            <a:prstDash val="solid"/>
          </a:ln>
        </p:spPr>
      </p:sp>
      <p:sp>
        <p:nvSpPr>
          <p:cNvPr id="8" name="txt-110">
            <a:extLst xmlns:a="http://schemas.openxmlformats.org/drawingml/2006/main">
              <a:ext uri="{FF2B5EF4-FFF2-40B4-BE49-F238E27FC236}">
                <a16:creationId xmlns:a16="http://schemas.microsoft.com/office/drawing/2014/main" id="{D4B5ED96-65CF-42DB-BED4-FB06CC77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1171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Treasury engine</a:t>
            </a:r>
          </a:p>
        </p:txBody>
      </p:sp>
      <p:sp>
        <p:nvSpPr>
          <p:cNvPr id="9" name="txt-111">
            <a:extLst xmlns:a="http://schemas.openxmlformats.org/drawingml/2006/main">
              <a:ext uri="{FF2B5EF4-FFF2-40B4-BE49-F238E27FC236}">
                <a16:creationId xmlns:a16="http://schemas.microsoft.com/office/drawing/2014/main" id="{FFC2DED9-205D-44C0-B725-96A335FE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86175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A2E35"/>
                </a:solidFill>
                <a:latin typeface="Arial"/>
                <a:ea typeface="Arial"/>
                <a:cs typeface="Arial"/>
              </a:rPr>
              <a:t>Proposes plan</a:t>
            </a:r>
          </a:p>
        </p:txBody>
      </p:sp>
      <p:sp>
        <p:nvSpPr>
          <p:cNvPr id="10" name="rule-112">
            <a:extLst xmlns:a="http://schemas.openxmlformats.org/drawingml/2006/main">
              <a:ext uri="{FF2B5EF4-FFF2-40B4-BE49-F238E27FC236}">
                <a16:creationId xmlns:a16="http://schemas.microsoft.com/office/drawing/2014/main" id="{0D019886-0B2D-47DD-8528-A46F0EBE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533775"/>
            <a:ext cx="257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1C1"/>
          </a:solidFill>
          <a:ln xmlns:a="http://schemas.openxmlformats.org/drawingml/2006/main" w="0">
            <a:solidFill>
              <a:srgbClr val="35E1C1"/>
            </a:solidFill>
            <a:prstDash val="solid"/>
          </a:ln>
        </p:spPr>
      </p:sp>
      <p:sp>
        <p:nvSpPr>
          <p:cNvPr id="11" name="shape-113">
            <a:extLst xmlns:a="http://schemas.openxmlformats.org/drawingml/2006/main">
              <a:ext uri="{FF2B5EF4-FFF2-40B4-BE49-F238E27FC236}">
                <a16:creationId xmlns:a16="http://schemas.microsoft.com/office/drawing/2014/main" id="{E69BFCE4-6D57-4832-9C08-7A73331F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76625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E1C1"/>
          </a:solidFill>
          <a:ln xmlns:a="http://schemas.openxmlformats.org/drawingml/2006/main" w="0">
            <a:solidFill>
              <a:srgbClr val="35E1C1"/>
            </a:solidFill>
            <a:prstDash val="solid"/>
          </a:ln>
        </p:spPr>
      </p:sp>
      <p:sp>
        <p:nvSpPr>
          <p:cNvPr id="12" name="shape-114">
            <a:extLst xmlns:a="http://schemas.openxmlformats.org/drawingml/2006/main">
              <a:ext uri="{FF2B5EF4-FFF2-40B4-BE49-F238E27FC236}">
                <a16:creationId xmlns:a16="http://schemas.microsoft.com/office/drawing/2014/main" id="{9F2133DA-72FB-4399-A005-0CFE21AC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33700"/>
            <a:ext cx="14763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4FFD1"/>
          </a:solidFill>
          <a:ln xmlns:a="http://schemas.openxmlformats.org/drawingml/2006/main" w="9525">
            <a:solidFill>
              <a:srgbClr val="CBDBDD"/>
            </a:solidFill>
            <a:prstDash val="solid"/>
          </a:ln>
        </p:spPr>
      </p:sp>
      <p:sp>
        <p:nvSpPr>
          <p:cNvPr id="13" name="txt-115">
            <a:extLst xmlns:a="http://schemas.openxmlformats.org/drawingml/2006/main">
              <a:ext uri="{FF2B5EF4-FFF2-40B4-BE49-F238E27FC236}">
                <a16:creationId xmlns:a16="http://schemas.microsoft.com/office/drawing/2014/main" id="{0B4CE396-5DAF-4BE5-B458-0F2CC5A3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62300"/>
            <a:ext cx="1171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Policy guardrails</a:t>
            </a:r>
          </a:p>
        </p:txBody>
      </p:sp>
      <p:sp>
        <p:nvSpPr>
          <p:cNvPr id="14" name="txt-116">
            <a:extLst xmlns:a="http://schemas.openxmlformats.org/drawingml/2006/main">
              <a:ext uri="{FF2B5EF4-FFF2-40B4-BE49-F238E27FC236}">
                <a16:creationId xmlns:a16="http://schemas.microsoft.com/office/drawing/2014/main" id="{56AC6608-8D48-4354-BE25-6C06039A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86175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A2E35"/>
                </a:solidFill>
                <a:latin typeface="Arial"/>
                <a:ea typeface="Arial"/>
                <a:cs typeface="Arial"/>
              </a:rPr>
              <a:t>Checks reserve and duplicate risk</a:t>
            </a:r>
          </a:p>
        </p:txBody>
      </p:sp>
      <p:sp>
        <p:nvSpPr>
          <p:cNvPr id="15" name="rule-117">
            <a:extLst xmlns:a="http://schemas.openxmlformats.org/drawingml/2006/main">
              <a:ext uri="{FF2B5EF4-FFF2-40B4-BE49-F238E27FC236}">
                <a16:creationId xmlns:a16="http://schemas.microsoft.com/office/drawing/2014/main" id="{09A57985-F1D3-4170-A83A-7E9C0495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533775"/>
            <a:ext cx="257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1C1"/>
          </a:solidFill>
          <a:ln xmlns:a="http://schemas.openxmlformats.org/drawingml/2006/main" w="0">
            <a:solidFill>
              <a:srgbClr val="35E1C1"/>
            </a:solidFill>
            <a:prstDash val="solid"/>
          </a:ln>
        </p:spPr>
      </p:sp>
      <p:sp>
        <p:nvSpPr>
          <p:cNvPr id="16" name="shape-118">
            <a:extLst xmlns:a="http://schemas.openxmlformats.org/drawingml/2006/main">
              <a:ext uri="{FF2B5EF4-FFF2-40B4-BE49-F238E27FC236}">
                <a16:creationId xmlns:a16="http://schemas.microsoft.com/office/drawing/2014/main" id="{398D7515-1EA9-42DC-B20E-3943DAB6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76625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E1C1"/>
          </a:solidFill>
          <a:ln xmlns:a="http://schemas.openxmlformats.org/drawingml/2006/main" w="0">
            <a:solidFill>
              <a:srgbClr val="35E1C1"/>
            </a:solidFill>
            <a:prstDash val="solid"/>
          </a:ln>
        </p:spPr>
      </p:sp>
      <p:sp>
        <p:nvSpPr>
          <p:cNvPr id="17" name="shape-119">
            <a:extLst xmlns:a="http://schemas.openxmlformats.org/drawingml/2006/main">
              <a:ext uri="{FF2B5EF4-FFF2-40B4-BE49-F238E27FC236}">
                <a16:creationId xmlns:a16="http://schemas.microsoft.com/office/drawing/2014/main" id="{E61A2CCF-C236-43EC-A685-231931BD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33700"/>
            <a:ext cx="14763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0D5"/>
          </a:solidFill>
          <a:ln xmlns:a="http://schemas.openxmlformats.org/drawingml/2006/main" w="9525">
            <a:solidFill>
              <a:srgbClr val="CBDBDD"/>
            </a:solidFill>
            <a:prstDash val="solid"/>
          </a:ln>
        </p:spPr>
      </p:sp>
      <p:sp>
        <p:nvSpPr>
          <p:cNvPr id="18" name="txt-120">
            <a:extLst xmlns:a="http://schemas.openxmlformats.org/drawingml/2006/main">
              <a:ext uri="{FF2B5EF4-FFF2-40B4-BE49-F238E27FC236}">
                <a16:creationId xmlns:a16="http://schemas.microsoft.com/office/drawing/2014/main" id="{E9295738-8F76-4986-BF91-4BBEE147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62300"/>
            <a:ext cx="1171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Intent token</a:t>
            </a:r>
          </a:p>
        </p:txBody>
      </p:sp>
      <p:sp>
        <p:nvSpPr>
          <p:cNvPr id="19" name="txt-121">
            <a:extLst xmlns:a="http://schemas.openxmlformats.org/drawingml/2006/main">
              <a:ext uri="{FF2B5EF4-FFF2-40B4-BE49-F238E27FC236}">
                <a16:creationId xmlns:a16="http://schemas.microsoft.com/office/drawing/2014/main" id="{807BAA29-857D-4BF8-9559-082AA096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86175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A2E35"/>
                </a:solidFill>
                <a:latin typeface="Arial"/>
                <a:ea typeface="Arial"/>
                <a:cs typeface="Arial"/>
              </a:rPr>
              <a:t>Mints plan hash</a:t>
            </a:r>
          </a:p>
        </p:txBody>
      </p:sp>
      <p:sp>
        <p:nvSpPr>
          <p:cNvPr id="20" name="rule-122">
            <a:extLst xmlns:a="http://schemas.openxmlformats.org/drawingml/2006/main">
              <a:ext uri="{FF2B5EF4-FFF2-40B4-BE49-F238E27FC236}">
                <a16:creationId xmlns:a16="http://schemas.microsoft.com/office/drawing/2014/main" id="{383687C7-551C-4584-B088-AA0108B9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533775"/>
            <a:ext cx="257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1C1"/>
          </a:solidFill>
          <a:ln xmlns:a="http://schemas.openxmlformats.org/drawingml/2006/main" w="0">
            <a:solidFill>
              <a:srgbClr val="35E1C1"/>
            </a:solidFill>
            <a:prstDash val="solid"/>
          </a:ln>
        </p:spPr>
      </p:sp>
      <p:sp>
        <p:nvSpPr>
          <p:cNvPr id="21" name="shape-123">
            <a:extLst xmlns:a="http://schemas.openxmlformats.org/drawingml/2006/main">
              <a:ext uri="{FF2B5EF4-FFF2-40B4-BE49-F238E27FC236}">
                <a16:creationId xmlns:a16="http://schemas.microsoft.com/office/drawing/2014/main" id="{0101519A-D8B4-4DE3-B15A-33EDD30B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76625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E1C1"/>
          </a:solidFill>
          <a:ln xmlns:a="http://schemas.openxmlformats.org/drawingml/2006/main" w="0">
            <a:solidFill>
              <a:srgbClr val="35E1C1"/>
            </a:solidFill>
            <a:prstDash val="solid"/>
          </a:ln>
        </p:spPr>
      </p:sp>
      <p:sp>
        <p:nvSpPr>
          <p:cNvPr id="22" name="shape-124">
            <a:extLst xmlns:a="http://schemas.openxmlformats.org/drawingml/2006/main">
              <a:ext uri="{FF2B5EF4-FFF2-40B4-BE49-F238E27FC236}">
                <a16:creationId xmlns:a16="http://schemas.microsoft.com/office/drawing/2014/main" id="{CD526838-3B35-4222-88A0-E7099256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33700"/>
            <a:ext cx="14763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FF7F0"/>
          </a:solidFill>
          <a:ln xmlns:a="http://schemas.openxmlformats.org/drawingml/2006/main" w="9525">
            <a:solidFill>
              <a:srgbClr val="CBDBDD"/>
            </a:solidFill>
            <a:prstDash val="solid"/>
          </a:ln>
        </p:spPr>
      </p:sp>
      <p:sp>
        <p:nvSpPr>
          <p:cNvPr id="23" name="txt-125">
            <a:extLst xmlns:a="http://schemas.openxmlformats.org/drawingml/2006/main">
              <a:ext uri="{FF2B5EF4-FFF2-40B4-BE49-F238E27FC236}">
                <a16:creationId xmlns:a16="http://schemas.microsoft.com/office/drawing/2014/main" id="{CECA0D33-E689-4A46-A416-0D95E172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62300"/>
            <a:ext cx="1171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Human approver</a:t>
            </a:r>
          </a:p>
        </p:txBody>
      </p:sp>
      <p:sp>
        <p:nvSpPr>
          <p:cNvPr id="24" name="txt-126">
            <a:extLst xmlns:a="http://schemas.openxmlformats.org/drawingml/2006/main">
              <a:ext uri="{FF2B5EF4-FFF2-40B4-BE49-F238E27FC236}">
                <a16:creationId xmlns:a16="http://schemas.microsoft.com/office/drawing/2014/main" id="{93C03D18-1E2F-4B31-8D60-12E4D6BA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86175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A2E35"/>
                </a:solidFill>
                <a:latin typeface="Arial"/>
                <a:ea typeface="Arial"/>
                <a:cs typeface="Arial"/>
              </a:rPr>
              <a:t>Binds approval</a:t>
            </a:r>
          </a:p>
        </p:txBody>
      </p:sp>
      <p:sp>
        <p:nvSpPr>
          <p:cNvPr id="25" name="rule-127">
            <a:extLst xmlns:a="http://schemas.openxmlformats.org/drawingml/2006/main">
              <a:ext uri="{FF2B5EF4-FFF2-40B4-BE49-F238E27FC236}">
                <a16:creationId xmlns:a16="http://schemas.microsoft.com/office/drawing/2014/main" id="{49407395-1D6F-4E29-ABB8-97E50BF3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533775"/>
            <a:ext cx="257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1C1"/>
          </a:solidFill>
          <a:ln xmlns:a="http://schemas.openxmlformats.org/drawingml/2006/main" w="0">
            <a:solidFill>
              <a:srgbClr val="35E1C1"/>
            </a:solidFill>
            <a:prstDash val="solid"/>
          </a:ln>
        </p:spPr>
      </p:sp>
      <p:sp>
        <p:nvSpPr>
          <p:cNvPr id="26" name="shape-128">
            <a:extLst xmlns:a="http://schemas.openxmlformats.org/drawingml/2006/main">
              <a:ext uri="{FF2B5EF4-FFF2-40B4-BE49-F238E27FC236}">
                <a16:creationId xmlns:a16="http://schemas.microsoft.com/office/drawing/2014/main" id="{EA937161-3411-4722-98BA-254943F5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76625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E1C1"/>
          </a:solidFill>
          <a:ln xmlns:a="http://schemas.openxmlformats.org/drawingml/2006/main" w="0">
            <a:solidFill>
              <a:srgbClr val="35E1C1"/>
            </a:solidFill>
            <a:prstDash val="solid"/>
          </a:ln>
        </p:spPr>
      </p:sp>
      <p:sp>
        <p:nvSpPr>
          <p:cNvPr id="27" name="shape-129">
            <a:extLst xmlns:a="http://schemas.openxmlformats.org/drawingml/2006/main">
              <a:ext uri="{FF2B5EF4-FFF2-40B4-BE49-F238E27FC236}">
                <a16:creationId xmlns:a16="http://schemas.microsoft.com/office/drawing/2014/main" id="{E04D0E17-FDED-4C84-8634-D3D26B79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33700"/>
            <a:ext cx="14763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EBF4"/>
          </a:solidFill>
          <a:ln xmlns:a="http://schemas.openxmlformats.org/drawingml/2006/main" w="9525">
            <a:solidFill>
              <a:srgbClr val="CBDBDD"/>
            </a:solidFill>
            <a:prstDash val="solid"/>
          </a:ln>
        </p:spPr>
      </p:sp>
      <p:sp>
        <p:nvSpPr>
          <p:cNvPr id="28" name="txt-130">
            <a:extLst xmlns:a="http://schemas.openxmlformats.org/drawingml/2006/main">
              <a:ext uri="{FF2B5EF4-FFF2-40B4-BE49-F238E27FC236}">
                <a16:creationId xmlns:a16="http://schemas.microsoft.com/office/drawing/2014/main" id="{A7F9518C-5332-46FC-B168-A0609456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62300"/>
            <a:ext cx="1171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Airwallex Sandbox</a:t>
            </a:r>
          </a:p>
        </p:txBody>
      </p:sp>
      <p:sp>
        <p:nvSpPr>
          <p:cNvPr id="29" name="txt-131">
            <a:extLst xmlns:a="http://schemas.openxmlformats.org/drawingml/2006/main">
              <a:ext uri="{FF2B5EF4-FFF2-40B4-BE49-F238E27FC236}">
                <a16:creationId xmlns:a16="http://schemas.microsoft.com/office/drawing/2014/main" id="{3CF32C87-749E-4B32-A8EC-BA15D1DA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86175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A2E35"/>
                </a:solidFill>
                <a:latin typeface="Arial"/>
                <a:ea typeface="Arial"/>
                <a:cs typeface="Arial"/>
              </a:rPr>
              <a:t>Creates transfer</a:t>
            </a:r>
          </a:p>
        </p:txBody>
      </p:sp>
      <p:sp>
        <p:nvSpPr>
          <p:cNvPr id="30" name="rule-132">
            <a:extLst xmlns:a="http://schemas.openxmlformats.org/drawingml/2006/main">
              <a:ext uri="{FF2B5EF4-FFF2-40B4-BE49-F238E27FC236}">
                <a16:creationId xmlns:a16="http://schemas.microsoft.com/office/drawing/2014/main" id="{3BFE2F40-D048-44D1-9662-DE5C70F4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533775"/>
            <a:ext cx="257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1C1"/>
          </a:solidFill>
          <a:ln xmlns:a="http://schemas.openxmlformats.org/drawingml/2006/main" w="0">
            <a:solidFill>
              <a:srgbClr val="35E1C1"/>
            </a:solidFill>
            <a:prstDash val="solid"/>
          </a:ln>
        </p:spPr>
      </p:sp>
      <p:sp>
        <p:nvSpPr>
          <p:cNvPr id="31" name="shape-133">
            <a:extLst xmlns:a="http://schemas.openxmlformats.org/drawingml/2006/main">
              <a:ext uri="{FF2B5EF4-FFF2-40B4-BE49-F238E27FC236}">
                <a16:creationId xmlns:a16="http://schemas.microsoft.com/office/drawing/2014/main" id="{0C91BEC2-E070-47CE-9CCE-CD2355AD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76625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E1C1"/>
          </a:solidFill>
          <a:ln xmlns:a="http://schemas.openxmlformats.org/drawingml/2006/main" w="0">
            <a:solidFill>
              <a:srgbClr val="35E1C1"/>
            </a:solidFill>
            <a:prstDash val="solid"/>
          </a:ln>
        </p:spPr>
      </p:sp>
      <p:sp>
        <p:nvSpPr>
          <p:cNvPr id="32" name="shape-134">
            <a:extLst xmlns:a="http://schemas.openxmlformats.org/drawingml/2006/main">
              <a:ext uri="{FF2B5EF4-FFF2-40B4-BE49-F238E27FC236}">
                <a16:creationId xmlns:a16="http://schemas.microsoft.com/office/drawing/2014/main" id="{C788EA18-0C0A-4B3D-948E-45CFF5C9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33700"/>
            <a:ext cx="14763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FE8FF"/>
          </a:solidFill>
          <a:ln xmlns:a="http://schemas.openxmlformats.org/drawingml/2006/main" w="9525">
            <a:solidFill>
              <a:srgbClr val="CBDBDD"/>
            </a:solidFill>
            <a:prstDash val="solid"/>
          </a:ln>
        </p:spPr>
      </p:sp>
      <p:sp>
        <p:nvSpPr>
          <p:cNvPr id="33" name="txt-135">
            <a:extLst xmlns:a="http://schemas.openxmlformats.org/drawingml/2006/main">
              <a:ext uri="{FF2B5EF4-FFF2-40B4-BE49-F238E27FC236}">
                <a16:creationId xmlns:a16="http://schemas.microsoft.com/office/drawing/2014/main" id="{5384A2B0-82FD-4691-AA77-C9117AB5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62300"/>
            <a:ext cx="1171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Audit ledger</a:t>
            </a:r>
          </a:p>
        </p:txBody>
      </p:sp>
      <p:sp>
        <p:nvSpPr>
          <p:cNvPr id="34" name="txt-136">
            <a:extLst xmlns:a="http://schemas.openxmlformats.org/drawingml/2006/main">
              <a:ext uri="{FF2B5EF4-FFF2-40B4-BE49-F238E27FC236}">
                <a16:creationId xmlns:a16="http://schemas.microsoft.com/office/drawing/2014/main" id="{6FD71708-75E6-4649-94E3-402B4088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86175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A2E35"/>
                </a:solidFill>
                <a:latin typeface="Arial"/>
                <a:ea typeface="Arial"/>
                <a:cs typeface="Arial"/>
              </a:rPr>
              <a:t>Records result</a:t>
            </a:r>
          </a:p>
        </p:txBody>
      </p:sp>
      <p:sp>
        <p:nvSpPr>
          <p:cNvPr id="35" name="shape-137">
            <a:extLst xmlns:a="http://schemas.openxmlformats.org/drawingml/2006/main">
              <a:ext uri="{FF2B5EF4-FFF2-40B4-BE49-F238E27FC236}">
                <a16:creationId xmlns:a16="http://schemas.microsoft.com/office/drawing/2014/main" id="{39A368C9-2571-486F-8796-157AF2AC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95850"/>
            <a:ext cx="7334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71A26"/>
          </a:solidFill>
          <a:ln xmlns:a="http://schemas.openxmlformats.org/drawingml/2006/main" w="0">
            <a:solidFill>
              <a:srgbClr val="071A26"/>
            </a:solidFill>
            <a:prstDash val="solid"/>
          </a:ln>
        </p:spPr>
      </p:sp>
      <p:sp>
        <p:nvSpPr>
          <p:cNvPr id="36" name="txt-138">
            <a:extLst xmlns:a="http://schemas.openxmlformats.org/drawingml/2006/main">
              <a:ext uri="{FF2B5EF4-FFF2-40B4-BE49-F238E27FC236}">
                <a16:creationId xmlns:a16="http://schemas.microsoft.com/office/drawing/2014/main" id="{925DFE4F-9CAE-48EE-ABB2-6BF3EF2B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9587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Policy violation: FlowGuard halts execution and records the blocked event.</a:t>
            </a:r>
          </a:p>
        </p:txBody>
      </p:sp>
      <p:sp>
        <p:nvSpPr>
          <p:cNvPr id="37" name="txt-139">
            <a:extLst xmlns:a="http://schemas.openxmlformats.org/drawingml/2006/main">
              <a:ext uri="{FF2B5EF4-FFF2-40B4-BE49-F238E27FC236}">
                <a16:creationId xmlns:a16="http://schemas.microsoft.com/office/drawing/2014/main" id="{52CEF257-0FBC-46FE-99B2-8744E534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A82"/>
                </a:solidFill>
                <a:latin typeface="Arial"/>
                <a:ea typeface="Arial"/>
                <a:cs typeface="Arial"/>
              </a:rPr>
              <a:t>Guardrails: reserve floor intact, no duplicate risk, payout within ceiling</a:t>
            </a:r>
          </a:p>
        </p:txBody>
      </p:sp>
    </p:spTree>
    <p:extLst>
      <p:ext uri="{BB962C8B-B14F-4D97-AF65-F5344CB8AC3E}">
        <p14:creationId xmlns:p14="http://schemas.microsoft.com/office/powerpoint/2010/main" val="21034729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ag-140">
            <a:extLst xmlns:a="http://schemas.openxmlformats.org/drawingml/2006/main">
              <a:ext uri="{FF2B5EF4-FFF2-40B4-BE49-F238E27FC236}">
                <a16:creationId xmlns:a16="http://schemas.microsoft.com/office/drawing/2014/main" id="{696B7FF5-E2D9-40F0-A277-02500EC1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35E1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5E1C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5E1C1"/>
                </a:solidFill>
                <a:latin typeface="Arial"/>
                <a:ea typeface="Arial"/>
                <a:cs typeface="Arial"/>
              </a:rPr>
              <a:t>SANDBOX ARCHITECTURE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15C9E7F8-A8A6-4847-9A25-437B0703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A React interface, policy-aware backend, and Airwallex Sandbox work as one payment loop</a:t>
            </a:r>
          </a:p>
        </p:txBody>
      </p:sp>
      <p:sp>
        <p:nvSpPr>
          <p:cNvPr id="3" name="txt-141">
            <a:extLst xmlns:a="http://schemas.openxmlformats.org/drawingml/2006/main">
              <a:ext uri="{FF2B5EF4-FFF2-40B4-BE49-F238E27FC236}">
                <a16:creationId xmlns:a16="http://schemas.microsoft.com/office/drawing/2014/main" id="{7508EC78-93AA-4D88-8327-A7497273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A82"/>
                </a:solidFill>
                <a:latin typeface="Arial"/>
                <a:ea typeface="Arial"/>
                <a:cs typeface="Arial"/>
              </a:rPr>
              <a:t>Live balances and FX inform a plan. A verified approval creates and settles a sandbox transfer.</a:t>
            </a:r>
          </a:p>
        </p:txBody>
      </p:sp>
      <p:sp>
        <p:nvSpPr>
          <p:cNvPr id="4" name="rule-142">
            <a:extLst xmlns:a="http://schemas.openxmlformats.org/drawingml/2006/main">
              <a:ext uri="{FF2B5EF4-FFF2-40B4-BE49-F238E27FC236}">
                <a16:creationId xmlns:a16="http://schemas.microsoft.com/office/drawing/2014/main" id="{0D974438-CA80-4066-8427-B0019D2E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BDD"/>
          </a:solidFill>
          <a:ln xmlns:a="http://schemas.openxmlformats.org/drawingml/2006/main" w="0">
            <a:solidFill>
              <a:srgbClr val="CBDBDD"/>
            </a:solidFill>
            <a:prstDash val="solid"/>
          </a:ln>
        </p:spPr>
      </p:sp>
      <p:sp>
        <p:nvSpPr>
          <p:cNvPr id="5" name="txt-143">
            <a:extLst xmlns:a="http://schemas.openxmlformats.org/drawingml/2006/main">
              <a:ext uri="{FF2B5EF4-FFF2-40B4-BE49-F238E27FC236}">
                <a16:creationId xmlns:a16="http://schemas.microsoft.com/office/drawing/2014/main" id="{189EBFDA-3CB1-49D2-9CEE-1D93BBF0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A82"/>
                </a:solidFill>
                <a:latin typeface="Arial"/>
                <a:ea typeface="Arial"/>
                <a:cs typeface="Arial"/>
              </a:rPr>
              <a:t>FLOWGUARD</a:t>
            </a:r>
          </a:p>
        </p:txBody>
      </p:sp>
      <p:sp>
        <p:nvSpPr>
          <p:cNvPr id="6" name="txt-144">
            <a:extLst xmlns:a="http://schemas.openxmlformats.org/drawingml/2006/main">
              <a:ext uri="{FF2B5EF4-FFF2-40B4-BE49-F238E27FC236}">
                <a16:creationId xmlns:a16="http://schemas.microsoft.com/office/drawing/2014/main" id="{16A6C24F-AE42-4D82-8531-27E9DC2F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A8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shape-145">
            <a:extLst xmlns:a="http://schemas.openxmlformats.org/drawingml/2006/main">
              <a:ext uri="{FF2B5EF4-FFF2-40B4-BE49-F238E27FC236}">
                <a16:creationId xmlns:a16="http://schemas.microsoft.com/office/drawing/2014/main" id="{CA5727B8-8E6D-4D7D-AEF3-87F186CA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2238375" cy="1685925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71A26"/>
          </a:solidFill>
          <a:ln xmlns:a="http://schemas.openxmlformats.org/drawingml/2006/main" w="9525">
            <a:solidFill>
              <a:srgbClr val="071A26"/>
            </a:solidFill>
            <a:prstDash val="solid"/>
          </a:ln>
        </p:spPr>
      </p:sp>
      <p:sp>
        <p:nvSpPr>
          <p:cNvPr id="8" name="txt-146">
            <a:extLst xmlns:a="http://schemas.openxmlformats.org/drawingml/2006/main">
              <a:ext uri="{FF2B5EF4-FFF2-40B4-BE49-F238E27FC236}">
                <a16:creationId xmlns:a16="http://schemas.microsoft.com/office/drawing/2014/main" id="{C3797B8B-D99D-464D-830C-8C7D2DA0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781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Finance director</a:t>
            </a:r>
          </a:p>
        </p:txBody>
      </p:sp>
      <p:sp>
        <p:nvSpPr>
          <p:cNvPr id="9" name="rule-147">
            <a:extLst xmlns:a="http://schemas.openxmlformats.org/drawingml/2006/main">
              <a:ext uri="{FF2B5EF4-FFF2-40B4-BE49-F238E27FC236}">
                <a16:creationId xmlns:a16="http://schemas.microsoft.com/office/drawing/2014/main" id="{CDDE8BC7-2B23-4C5F-91CA-0EAB0459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19475"/>
            <a:ext cx="1362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818B"/>
          </a:solidFill>
          <a:ln xmlns:a="http://schemas.openxmlformats.org/drawingml/2006/main" w="0">
            <a:solidFill>
              <a:srgbClr val="60818B"/>
            </a:solidFill>
            <a:prstDash val="solid"/>
          </a:ln>
        </p:spPr>
      </p:sp>
      <p:sp>
        <p:nvSpPr>
          <p:cNvPr id="10" name="txt-148">
            <a:extLst xmlns:a="http://schemas.openxmlformats.org/drawingml/2006/main">
              <a:ext uri="{FF2B5EF4-FFF2-40B4-BE49-F238E27FC236}">
                <a16:creationId xmlns:a16="http://schemas.microsoft.com/office/drawing/2014/main" id="{6F96CE7C-218E-4474-8EEC-054FE935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1819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C7DAD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C7DAD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7DADE"/>
                </a:solidFill>
                <a:latin typeface="Arial"/>
                <a:ea typeface="Arial"/>
                <a:cs typeface="Arial"/>
              </a:rPr>
              <a:t>Review &amp; Pay</a:t>
            </a:r>
          </a:p>
        </p:txBody>
      </p:sp>
      <p:sp>
        <p:nvSpPr>
          <p:cNvPr id="11" name="rule-149">
            <a:extLst xmlns:a="http://schemas.openxmlformats.org/drawingml/2006/main">
              <a:ext uri="{FF2B5EF4-FFF2-40B4-BE49-F238E27FC236}">
                <a16:creationId xmlns:a16="http://schemas.microsoft.com/office/drawing/2014/main" id="{A6EDF91E-0331-4C88-B4FA-C4F2D13A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4575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1C1"/>
          </a:solidFill>
          <a:ln xmlns:a="http://schemas.openxmlformats.org/drawingml/2006/main" w="0">
            <a:solidFill>
              <a:srgbClr val="35E1C1"/>
            </a:solidFill>
            <a:prstDash val="solid"/>
          </a:ln>
        </p:spPr>
      </p:sp>
      <p:sp>
        <p:nvSpPr>
          <p:cNvPr id="12" name="shape-150">
            <a:extLst xmlns:a="http://schemas.openxmlformats.org/drawingml/2006/main">
              <a:ext uri="{FF2B5EF4-FFF2-40B4-BE49-F238E27FC236}">
                <a16:creationId xmlns:a16="http://schemas.microsoft.com/office/drawing/2014/main" id="{1336E77E-C566-464E-B66E-86BA4918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400425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E1C1"/>
          </a:solidFill>
          <a:ln xmlns:a="http://schemas.openxmlformats.org/drawingml/2006/main" w="0">
            <a:solidFill>
              <a:srgbClr val="35E1C1"/>
            </a:solidFill>
            <a:prstDash val="solid"/>
          </a:ln>
        </p:spPr>
      </p:sp>
      <p:sp>
        <p:nvSpPr>
          <p:cNvPr id="13" name="shape-151">
            <a:extLst xmlns:a="http://schemas.openxmlformats.org/drawingml/2006/main">
              <a:ext uri="{FF2B5EF4-FFF2-40B4-BE49-F238E27FC236}">
                <a16:creationId xmlns:a16="http://schemas.microsoft.com/office/drawing/2014/main" id="{5E464B0B-DF8C-4F94-A4F2-5D4DD90E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19375"/>
            <a:ext cx="2238375" cy="1685925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D2E3B"/>
          </a:solidFill>
          <a:ln xmlns:a="http://schemas.openxmlformats.org/drawingml/2006/main" w="9525">
            <a:solidFill>
              <a:srgbClr val="0D2E3B"/>
            </a:solidFill>
            <a:prstDash val="solid"/>
          </a:ln>
        </p:spPr>
      </p:sp>
      <p:sp>
        <p:nvSpPr>
          <p:cNvPr id="14" name="txt-152">
            <a:extLst xmlns:a="http://schemas.openxmlformats.org/drawingml/2006/main">
              <a:ext uri="{FF2B5EF4-FFF2-40B4-BE49-F238E27FC236}">
                <a16:creationId xmlns:a16="http://schemas.microsoft.com/office/drawing/2014/main" id="{C337824D-A2B9-4084-9BE1-7C7EC9B7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52750"/>
            <a:ext cx="1781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FlowGuard React UI</a:t>
            </a:r>
          </a:p>
        </p:txBody>
      </p:sp>
      <p:sp>
        <p:nvSpPr>
          <p:cNvPr id="15" name="rule-153">
            <a:extLst xmlns:a="http://schemas.openxmlformats.org/drawingml/2006/main">
              <a:ext uri="{FF2B5EF4-FFF2-40B4-BE49-F238E27FC236}">
                <a16:creationId xmlns:a16="http://schemas.microsoft.com/office/drawing/2014/main" id="{B10E2872-271E-4E32-928F-415E9805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19475"/>
            <a:ext cx="1362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818B"/>
          </a:solidFill>
          <a:ln xmlns:a="http://schemas.openxmlformats.org/drawingml/2006/main" w="0">
            <a:solidFill>
              <a:srgbClr val="60818B"/>
            </a:solidFill>
            <a:prstDash val="solid"/>
          </a:ln>
        </p:spPr>
      </p:sp>
      <p:sp>
        <p:nvSpPr>
          <p:cNvPr id="16" name="txt-154">
            <a:extLst xmlns:a="http://schemas.openxmlformats.org/drawingml/2006/main">
              <a:ext uri="{FF2B5EF4-FFF2-40B4-BE49-F238E27FC236}">
                <a16:creationId xmlns:a16="http://schemas.microsoft.com/office/drawing/2014/main" id="{C96FE3BE-DD9C-4F6F-9135-348B08E2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19500"/>
            <a:ext cx="1819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C7DAD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C7DAD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7DADE"/>
                </a:solidFill>
                <a:latin typeface="Arial"/>
                <a:ea typeface="Arial"/>
                <a:cs typeface="Arial"/>
              </a:rPr>
              <a:t>Planner + Risk Guard</a:t>
            </a:r>
          </a:p>
        </p:txBody>
      </p:sp>
      <p:sp>
        <p:nvSpPr>
          <p:cNvPr id="17" name="rule-155">
            <a:extLst xmlns:a="http://schemas.openxmlformats.org/drawingml/2006/main">
              <a:ext uri="{FF2B5EF4-FFF2-40B4-BE49-F238E27FC236}">
                <a16:creationId xmlns:a16="http://schemas.microsoft.com/office/drawing/2014/main" id="{380D2746-5009-4223-A903-8B546FFA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575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1C1"/>
          </a:solidFill>
          <a:ln xmlns:a="http://schemas.openxmlformats.org/drawingml/2006/main" w="0">
            <a:solidFill>
              <a:srgbClr val="35E1C1"/>
            </a:solidFill>
            <a:prstDash val="solid"/>
          </a:ln>
        </p:spPr>
      </p:sp>
      <p:sp>
        <p:nvSpPr>
          <p:cNvPr id="18" name="shape-156">
            <a:extLst xmlns:a="http://schemas.openxmlformats.org/drawingml/2006/main">
              <a:ext uri="{FF2B5EF4-FFF2-40B4-BE49-F238E27FC236}">
                <a16:creationId xmlns:a16="http://schemas.microsoft.com/office/drawing/2014/main" id="{EC09DCF1-6F78-406D-A70D-78050137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400425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E1C1"/>
          </a:solidFill>
          <a:ln xmlns:a="http://schemas.openxmlformats.org/drawingml/2006/main" w="0">
            <a:solidFill>
              <a:srgbClr val="35E1C1"/>
            </a:solidFill>
            <a:prstDash val="solid"/>
          </a:ln>
        </p:spPr>
      </p:sp>
      <p:sp>
        <p:nvSpPr>
          <p:cNvPr id="19" name="shape-157">
            <a:extLst xmlns:a="http://schemas.openxmlformats.org/drawingml/2006/main">
              <a:ext uri="{FF2B5EF4-FFF2-40B4-BE49-F238E27FC236}">
                <a16:creationId xmlns:a16="http://schemas.microsoft.com/office/drawing/2014/main" id="{CE4B897B-D8A4-4B18-85C6-6BFA8E80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19375"/>
            <a:ext cx="2238375" cy="1685925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35E1C1"/>
          </a:solidFill>
          <a:ln xmlns:a="http://schemas.openxmlformats.org/drawingml/2006/main" w="9525">
            <a:solidFill>
              <a:srgbClr val="35E1C1"/>
            </a:solidFill>
            <a:prstDash val="solid"/>
          </a:ln>
        </p:spPr>
      </p:sp>
      <p:sp>
        <p:nvSpPr>
          <p:cNvPr id="20" name="txt-158">
            <a:extLst xmlns:a="http://schemas.openxmlformats.org/drawingml/2006/main">
              <a:ext uri="{FF2B5EF4-FFF2-40B4-BE49-F238E27FC236}">
                <a16:creationId xmlns:a16="http://schemas.microsoft.com/office/drawing/2014/main" id="{61142137-A912-4E9A-BEBB-3F4A31FA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1781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Express server</a:t>
            </a:r>
          </a:p>
        </p:txBody>
      </p:sp>
      <p:sp>
        <p:nvSpPr>
          <p:cNvPr id="21" name="rule-159">
            <a:extLst xmlns:a="http://schemas.openxmlformats.org/drawingml/2006/main">
              <a:ext uri="{FF2B5EF4-FFF2-40B4-BE49-F238E27FC236}">
                <a16:creationId xmlns:a16="http://schemas.microsoft.com/office/drawing/2014/main" id="{037B25CE-F97D-4B0F-AE8F-61AF10A0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19475"/>
            <a:ext cx="1362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6"/>
          </a:solidFill>
          <a:ln xmlns:a="http://schemas.openxmlformats.org/drawingml/2006/main" w="0">
            <a:solidFill>
              <a:srgbClr val="071A26"/>
            </a:solidFill>
            <a:prstDash val="solid"/>
          </a:ln>
        </p:spPr>
      </p:sp>
      <p:sp>
        <p:nvSpPr>
          <p:cNvPr id="22" name="txt-160">
            <a:extLst xmlns:a="http://schemas.openxmlformats.org/drawingml/2006/main">
              <a:ext uri="{FF2B5EF4-FFF2-40B4-BE49-F238E27FC236}">
                <a16:creationId xmlns:a16="http://schemas.microsoft.com/office/drawing/2014/main" id="{4D65226B-1BD1-4FAC-A725-864792BF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19500"/>
            <a:ext cx="1819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71A26"/>
                </a:solidFill>
                <a:latin typeface="Arial"/>
                <a:ea typeface="Arial"/>
                <a:cs typeface="Arial"/>
              </a:rPr>
              <a:t>Rules engine + ArmorIQ</a:t>
            </a:r>
          </a:p>
        </p:txBody>
      </p:sp>
      <p:sp>
        <p:nvSpPr>
          <p:cNvPr id="23" name="rule-161">
            <a:extLst xmlns:a="http://schemas.openxmlformats.org/drawingml/2006/main">
              <a:ext uri="{FF2B5EF4-FFF2-40B4-BE49-F238E27FC236}">
                <a16:creationId xmlns:a16="http://schemas.microsoft.com/office/drawing/2014/main" id="{5FC4A8EE-39D9-4431-8DDD-DFBD5534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4575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1C1"/>
          </a:solidFill>
          <a:ln xmlns:a="http://schemas.openxmlformats.org/drawingml/2006/main" w="0">
            <a:solidFill>
              <a:srgbClr val="35E1C1"/>
            </a:solidFill>
            <a:prstDash val="solid"/>
          </a:ln>
        </p:spPr>
      </p:sp>
      <p:sp>
        <p:nvSpPr>
          <p:cNvPr id="24" name="shape-162">
            <a:extLst xmlns:a="http://schemas.openxmlformats.org/drawingml/2006/main">
              <a:ext uri="{FF2B5EF4-FFF2-40B4-BE49-F238E27FC236}">
                <a16:creationId xmlns:a16="http://schemas.microsoft.com/office/drawing/2014/main" id="{4FE00C75-6EEB-4850-994A-4518E393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400425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E1C1"/>
          </a:solidFill>
          <a:ln xmlns:a="http://schemas.openxmlformats.org/drawingml/2006/main" w="0">
            <a:solidFill>
              <a:srgbClr val="35E1C1"/>
            </a:solidFill>
            <a:prstDash val="solid"/>
          </a:ln>
        </p:spPr>
      </p:sp>
      <p:sp>
        <p:nvSpPr>
          <p:cNvPr id="25" name="shape-163">
            <a:extLst xmlns:a="http://schemas.openxmlformats.org/drawingml/2006/main">
              <a:ext uri="{FF2B5EF4-FFF2-40B4-BE49-F238E27FC236}">
                <a16:creationId xmlns:a16="http://schemas.microsoft.com/office/drawing/2014/main" id="{36CCDE67-AC53-4E10-B561-3C14F8B4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19375"/>
            <a:ext cx="2238375" cy="1685925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71A26"/>
          </a:solidFill>
          <a:ln xmlns:a="http://schemas.openxmlformats.org/drawingml/2006/main" w="9525">
            <a:solidFill>
              <a:srgbClr val="071A26"/>
            </a:solidFill>
            <a:prstDash val="solid"/>
          </a:ln>
        </p:spPr>
      </p:sp>
      <p:sp>
        <p:nvSpPr>
          <p:cNvPr id="26" name="txt-164">
            <a:extLst xmlns:a="http://schemas.openxmlformats.org/drawingml/2006/main">
              <a:ext uri="{FF2B5EF4-FFF2-40B4-BE49-F238E27FC236}">
                <a16:creationId xmlns:a16="http://schemas.microsoft.com/office/drawing/2014/main" id="{A37BC73F-2D72-49AC-9F63-6233E66E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1781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Airwallex Sandbox</a:t>
            </a:r>
          </a:p>
        </p:txBody>
      </p:sp>
      <p:sp>
        <p:nvSpPr>
          <p:cNvPr id="27" name="rule-165">
            <a:extLst xmlns:a="http://schemas.openxmlformats.org/drawingml/2006/main">
              <a:ext uri="{FF2B5EF4-FFF2-40B4-BE49-F238E27FC236}">
                <a16:creationId xmlns:a16="http://schemas.microsoft.com/office/drawing/2014/main" id="{03C02CE8-162A-4B1E-BBDA-27C60C30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19475"/>
            <a:ext cx="1362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818B"/>
          </a:solidFill>
          <a:ln xmlns:a="http://schemas.openxmlformats.org/drawingml/2006/main" w="0">
            <a:solidFill>
              <a:srgbClr val="60818B"/>
            </a:solidFill>
            <a:prstDash val="solid"/>
          </a:ln>
        </p:spPr>
      </p:sp>
      <p:sp>
        <p:nvSpPr>
          <p:cNvPr id="28" name="txt-166">
            <a:extLst xmlns:a="http://schemas.openxmlformats.org/drawingml/2006/main">
              <a:ext uri="{FF2B5EF4-FFF2-40B4-BE49-F238E27FC236}">
                <a16:creationId xmlns:a16="http://schemas.microsoft.com/office/drawing/2014/main" id="{8701C5CC-4C51-489F-80F8-E971C25E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19500"/>
            <a:ext cx="1819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C7DAD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C7DAD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7DADE"/>
                </a:solidFill>
                <a:latin typeface="Arial"/>
                <a:ea typeface="Arial"/>
                <a:cs typeface="Arial"/>
              </a:rPr>
              <a:t>Balances, FX, Transfers</a:t>
            </a:r>
          </a:p>
        </p:txBody>
      </p:sp>
      <p:sp>
        <p:nvSpPr>
          <p:cNvPr id="29" name="txt-167">
            <a:extLst xmlns:a="http://schemas.openxmlformats.org/drawingml/2006/main">
              <a:ext uri="{FF2B5EF4-FFF2-40B4-BE49-F238E27FC236}">
                <a16:creationId xmlns:a16="http://schemas.microsoft.com/office/drawing/2014/main" id="{82F5867B-63D1-4DFE-9858-DECFFE36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E35"/>
                </a:solidFill>
                <a:latin typeface="Arial"/>
                <a:ea typeface="Arial"/>
                <a:cs typeface="Arial"/>
              </a:rPr>
              <a:t>Selected calls: GET balances/current, GET fx/rates/current, POST transfers/create, POST simulation/transfers/{id}/transition</a:t>
            </a:r>
          </a:p>
        </p:txBody>
      </p:sp>
      <p:sp>
        <p:nvSpPr>
          <p:cNvPr id="30" name="txt-168">
            <a:extLst xmlns:a="http://schemas.openxmlformats.org/drawingml/2006/main">
              <a:ext uri="{FF2B5EF4-FFF2-40B4-BE49-F238E27FC236}">
                <a16:creationId xmlns:a16="http://schemas.microsoft.com/office/drawing/2014/main" id="{C09D722A-5E29-4137-A84D-FFF2C26F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Authentication uses a short-lived bearer token. Every transfer carries a UUID request_id for idempotency.</a:t>
            </a:r>
          </a:p>
        </p:txBody>
      </p:sp>
    </p:spTree>
    <p:extLst>
      <p:ext uri="{BB962C8B-B14F-4D97-AF65-F5344CB8AC3E}">
        <p14:creationId xmlns:p14="http://schemas.microsoft.com/office/powerpoint/2010/main" val="3297761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ag-169">
            <a:extLst xmlns:a="http://schemas.openxmlformats.org/drawingml/2006/main">
              <a:ext uri="{FF2B5EF4-FFF2-40B4-BE49-F238E27FC236}">
                <a16:creationId xmlns:a16="http://schemas.microsoft.com/office/drawing/2014/main" id="{AAF5305B-3C49-4F35-AC17-096E6B6E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35E1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5E1C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5E1C1"/>
                </a:solidFill>
                <a:latin typeface="Arial"/>
                <a:ea typeface="Arial"/>
                <a:cs typeface="Arial"/>
              </a:rPr>
              <a:t>DEMO SCENARIOS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4EC01947-CBBB-4EEC-8DEE-E115F92D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Four preset situations make the product behavior visible in three minutes</a:t>
            </a:r>
          </a:p>
        </p:txBody>
      </p:sp>
      <p:sp>
        <p:nvSpPr>
          <p:cNvPr id="3" name="txt-170">
            <a:extLst xmlns:a="http://schemas.openxmlformats.org/drawingml/2006/main">
              <a:ext uri="{FF2B5EF4-FFF2-40B4-BE49-F238E27FC236}">
                <a16:creationId xmlns:a16="http://schemas.microsoft.com/office/drawing/2014/main" id="{4A79DD02-0748-450E-ACD7-67DB15DA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A82"/>
                </a:solidFill>
                <a:latin typeface="Arial"/>
                <a:ea typeface="Arial"/>
                <a:cs typeface="Arial"/>
              </a:rPr>
              <a:t>Each scenario changes the inputs and lets the rules engine show why the recommendation changes.</a:t>
            </a:r>
          </a:p>
        </p:txBody>
      </p:sp>
      <p:sp>
        <p:nvSpPr>
          <p:cNvPr id="4" name="rule-171">
            <a:extLst xmlns:a="http://schemas.openxmlformats.org/drawingml/2006/main">
              <a:ext uri="{FF2B5EF4-FFF2-40B4-BE49-F238E27FC236}">
                <a16:creationId xmlns:a16="http://schemas.microsoft.com/office/drawing/2014/main" id="{1F6563FF-53F2-4F3E-81AF-143AFDDE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BDD"/>
          </a:solidFill>
          <a:ln xmlns:a="http://schemas.openxmlformats.org/drawingml/2006/main" w="0">
            <a:solidFill>
              <a:srgbClr val="CBDBDD"/>
            </a:solidFill>
            <a:prstDash val="solid"/>
          </a:ln>
        </p:spPr>
      </p:sp>
      <p:sp>
        <p:nvSpPr>
          <p:cNvPr id="5" name="txt-172">
            <a:extLst xmlns:a="http://schemas.openxmlformats.org/drawingml/2006/main">
              <a:ext uri="{FF2B5EF4-FFF2-40B4-BE49-F238E27FC236}">
                <a16:creationId xmlns:a16="http://schemas.microsoft.com/office/drawing/2014/main" id="{DEDE3749-3551-48C0-9A85-446F7DCD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A82"/>
                </a:solidFill>
                <a:latin typeface="Arial"/>
                <a:ea typeface="Arial"/>
                <a:cs typeface="Arial"/>
              </a:rPr>
              <a:t>FLOWGUARD</a:t>
            </a:r>
          </a:p>
        </p:txBody>
      </p:sp>
      <p:sp>
        <p:nvSpPr>
          <p:cNvPr id="6" name="txt-173">
            <a:extLst xmlns:a="http://schemas.openxmlformats.org/drawingml/2006/main">
              <a:ext uri="{FF2B5EF4-FFF2-40B4-BE49-F238E27FC236}">
                <a16:creationId xmlns:a16="http://schemas.microsoft.com/office/drawing/2014/main" id="{03C69BDA-9990-4765-BADD-7E06A743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A8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10D76-19A1-47E3-9187-65ADEAA627A7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3095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4191000"/>
                <a:gridCol w="4438650"/>
              </a:tblGrid>
              <a:tr h="5143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Scenario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BDD"/>
                      </a:solidFill>
                      <a:prstDash val="solid"/>
                    </a:lnL>
                    <a:lnR w="9525">
                      <a:solidFill>
                        <a:srgbClr val="CBDBDD"/>
                      </a:solidFill>
                      <a:prstDash val="solid"/>
                    </a:lnR>
                    <a:lnT w="9525">
                      <a:solidFill>
                        <a:srgbClr val="CBDBDD"/>
                      </a:solidFill>
                      <a:prstDash val="solid"/>
                    </a:lnT>
                    <a:lnB w="9525">
                      <a:solidFill>
                        <a:srgbClr val="CBDBDD"/>
                      </a:solidFill>
                      <a:prstDash val="solid"/>
                    </a:lnB>
                    <a:solidFill>
                      <a:srgbClr val="07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Financial event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BDD"/>
                      </a:solidFill>
                      <a:prstDash val="solid"/>
                    </a:lnR>
                    <a:lnT w="9525">
                      <a:solidFill>
                        <a:srgbClr val="CBDBDD"/>
                      </a:solidFill>
                      <a:prstDash val="solid"/>
                    </a:lnT>
                    <a:lnB w="9525">
                      <a:solidFill>
                        <a:srgbClr val="CBDBDD"/>
                      </a:solidFill>
                      <a:prstDash val="solid"/>
                    </a:lnB>
                    <a:solidFill>
                      <a:srgbClr val="07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FlowGuard response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BDD"/>
                      </a:solidFill>
                      <a:prstDash val="solid"/>
                    </a:lnR>
                    <a:lnT w="9525">
                      <a:solidFill>
                        <a:srgbClr val="CBDBDD"/>
                      </a:solidFill>
                      <a:prstDash val="solid"/>
                    </a:lnT>
                    <a:lnB w="9525">
                      <a:solidFill>
                        <a:srgbClr val="CBDBDD"/>
                      </a:solidFill>
                      <a:prstDash val="solid"/>
                    </a:lnB>
                    <a:solidFill>
                      <a:srgbClr val="071A2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E35"/>
                          </a:solidFill>
                          <a:latin typeface="Arial"/>
                          <a:ea typeface="Arial"/>
                          <a:cs typeface="Arial"/>
                        </a:rPr>
                        <a:t>A  Baseline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BDD"/>
                      </a:solidFill>
                      <a:prstDash val="solid"/>
                    </a:lnL>
                    <a:lnR w="9525">
                      <a:solidFill>
                        <a:srgbClr val="CBDBDD"/>
                      </a:solidFill>
                      <a:prstDash val="solid"/>
                    </a:lnR>
                    <a:lnB w="9525">
                      <a:solidFill>
                        <a:srgbClr val="CBDB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2E35"/>
                          </a:solidFill>
                          <a:latin typeface="Arial"/>
                          <a:ea typeface="Arial"/>
                          <a:cs typeface="Arial"/>
                        </a:rPr>
                        <a:t>$33,110 across four wallets; $15,000 reserve floor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BDD"/>
                      </a:solidFill>
                      <a:prstDash val="solid"/>
                    </a:lnR>
                    <a:lnB w="9525">
                      <a:solidFill>
                        <a:srgbClr val="CBDB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2E35"/>
                          </a:solidFill>
                          <a:latin typeface="Arial"/>
                          <a:ea typeface="Arial"/>
                          <a:cs typeface="Arial"/>
                        </a:rPr>
                        <a:t>Pays critical obligations while preserving buffer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BDD"/>
                      </a:solidFill>
                      <a:prstDash val="solid"/>
                    </a:lnR>
                    <a:lnB w="9525">
                      <a:solidFill>
                        <a:srgbClr val="CBDB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E35"/>
                          </a:solidFill>
                          <a:latin typeface="Arial"/>
                          <a:ea typeface="Arial"/>
                          <a:cs typeface="Arial"/>
                        </a:rPr>
                        <a:t>B  Duplicate attack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BDD"/>
                      </a:solidFill>
                      <a:prstDash val="solid"/>
                    </a:lnL>
                    <a:lnR w="9525">
                      <a:solidFill>
                        <a:srgbClr val="CBDBDD"/>
                      </a:solidFill>
                      <a:prstDash val="solid"/>
                    </a:lnR>
                    <a:lnB w="9525">
                      <a:solidFill>
                        <a:srgbClr val="CBDBDD"/>
                      </a:solidFill>
                      <a:prstDash val="solid"/>
                    </a:lnB>
                    <a:solidFill>
                      <a:srgbClr val="FFE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2E35"/>
                          </a:solidFill>
                          <a:latin typeface="Arial"/>
                          <a:ea typeface="Arial"/>
                          <a:cs typeface="Arial"/>
                        </a:rPr>
                        <a:t>Injects Bavaria invoice INV-2024-884B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BDD"/>
                      </a:solidFill>
                      <a:prstDash val="solid"/>
                    </a:lnR>
                    <a:lnB w="9525">
                      <a:solidFill>
                        <a:srgbClr val="CBDBDD"/>
                      </a:solidFill>
                      <a:prstDash val="solid"/>
                    </a:lnB>
                    <a:solidFill>
                      <a:srgbClr val="FFE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2E35"/>
                          </a:solidFill>
                          <a:latin typeface="Arial"/>
                          <a:ea typeface="Arial"/>
                          <a:cs typeface="Arial"/>
                        </a:rPr>
                        <a:t>Blocks duplicate; stops intent token minting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BDD"/>
                      </a:solidFill>
                      <a:prstDash val="solid"/>
                    </a:lnR>
                    <a:lnB w="9525">
                      <a:solidFill>
                        <a:srgbClr val="CBDBDD"/>
                      </a:solidFill>
                      <a:prstDash val="solid"/>
                    </a:lnB>
                    <a:solidFill>
                      <a:srgbClr val="FFE6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E35"/>
                          </a:solidFill>
                          <a:latin typeface="Arial"/>
                          <a:ea typeface="Arial"/>
                          <a:cs typeface="Arial"/>
                        </a:rPr>
                        <a:t>C  Delayed receipt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BDD"/>
                      </a:solidFill>
                      <a:prstDash val="solid"/>
                    </a:lnL>
                    <a:lnR w="9525">
                      <a:solidFill>
                        <a:srgbClr val="CBDBDD"/>
                      </a:solidFill>
                      <a:prstDash val="solid"/>
                    </a:lnR>
                    <a:lnB w="9525">
                      <a:solidFill>
                        <a:srgbClr val="CBDBDD"/>
                      </a:solidFill>
                      <a:prstDash val="solid"/>
                    </a:lnB>
                    <a:solidFill>
                      <a:srgbClr val="F4FF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2E35"/>
                          </a:solidFill>
                          <a:latin typeface="Arial"/>
                          <a:ea typeface="Arial"/>
                          <a:cs typeface="Arial"/>
                        </a:rPr>
                        <a:t>$14,500 customer receipt moves 14 days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BDD"/>
                      </a:solidFill>
                      <a:prstDash val="solid"/>
                    </a:lnR>
                    <a:lnB w="9525">
                      <a:solidFill>
                        <a:srgbClr val="CBDBDD"/>
                      </a:solidFill>
                      <a:prstDash val="solid"/>
                    </a:lnB>
                    <a:solidFill>
                      <a:srgbClr val="F4FF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2E35"/>
                          </a:solidFill>
                          <a:latin typeface="Arial"/>
                          <a:ea typeface="Arial"/>
                          <a:cs typeface="Arial"/>
                        </a:rPr>
                        <a:t>Defers Shenzhen MicroSensors to protect floor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BDD"/>
                      </a:solidFill>
                      <a:prstDash val="solid"/>
                    </a:lnR>
                    <a:lnB w="9525">
                      <a:solidFill>
                        <a:srgbClr val="CBDBDD"/>
                      </a:solidFill>
                      <a:prstDash val="solid"/>
                    </a:lnB>
                    <a:solidFill>
                      <a:srgbClr val="F4FFD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E35"/>
                          </a:solidFill>
                          <a:latin typeface="Arial"/>
                          <a:ea typeface="Arial"/>
                          <a:cs typeface="Arial"/>
                        </a:rPr>
                        <a:t>D  Deposit replenishment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BDD"/>
                      </a:solidFill>
                      <a:prstDash val="solid"/>
                    </a:lnL>
                    <a:lnR w="9525">
                      <a:solidFill>
                        <a:srgbClr val="CBDBDD"/>
                      </a:solidFill>
                      <a:prstDash val="solid"/>
                    </a:lnR>
                    <a:lnB w="9525">
                      <a:solidFill>
                        <a:srgbClr val="CBDB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2E35"/>
                          </a:solidFill>
                          <a:latin typeface="Arial"/>
                          <a:ea typeface="Arial"/>
                          <a:cs typeface="Arial"/>
                        </a:rPr>
                        <a:t>Adds $25,000 USD via sandbox deposit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BDD"/>
                      </a:solidFill>
                      <a:prstDash val="solid"/>
                    </a:lnR>
                    <a:lnB w="9525">
                      <a:solidFill>
                        <a:srgbClr val="CBDB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2E35"/>
                          </a:solidFill>
                          <a:latin typeface="Arial"/>
                          <a:ea typeface="Arial"/>
                          <a:cs typeface="Arial"/>
                        </a:rPr>
                        <a:t>Unlocks previously deferred obligations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BDD"/>
                      </a:solidFill>
                      <a:prstDash val="solid"/>
                    </a:lnR>
                    <a:lnB w="9525">
                      <a:solidFill>
                        <a:srgbClr val="CBDB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xt-174">
            <a:extLst xmlns:a="http://schemas.openxmlformats.org/drawingml/2006/main">
              <a:ext uri="{FF2B5EF4-FFF2-40B4-BE49-F238E27FC236}">
                <a16:creationId xmlns:a16="http://schemas.microsoft.com/office/drawing/2014/main" id="{35F0AAD5-2CB7-4FB6-87B0-D497EEFC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Use the scenario selector live: show the condition, then show the policy decision.</a:t>
            </a:r>
          </a:p>
        </p:txBody>
      </p:sp>
    </p:spTree>
    <p:extLst>
      <p:ext uri="{BB962C8B-B14F-4D97-AF65-F5344CB8AC3E}">
        <p14:creationId xmlns:p14="http://schemas.microsoft.com/office/powerpoint/2010/main" val="16110827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ag-175">
            <a:extLst xmlns:a="http://schemas.openxmlformats.org/drawingml/2006/main">
              <a:ext uri="{FF2B5EF4-FFF2-40B4-BE49-F238E27FC236}">
                <a16:creationId xmlns:a16="http://schemas.microsoft.com/office/drawing/2014/main" id="{2FC857D1-B5C6-4EAC-8459-73C7F622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35E1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35E1C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5E1C1"/>
                </a:solidFill>
                <a:latin typeface="Arial"/>
                <a:ea typeface="Arial"/>
                <a:cs typeface="Arial"/>
              </a:rPr>
              <a:t>LIVE DEMO PLAN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EB3C89F4-CCE3-4822-9E37-37139088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A three-minute walkthrough follows the risk from detection to settlement</a:t>
            </a:r>
          </a:p>
        </p:txBody>
      </p:sp>
      <p:sp>
        <p:nvSpPr>
          <p:cNvPr id="3" name="txt-176">
            <a:extLst xmlns:a="http://schemas.openxmlformats.org/drawingml/2006/main">
              <a:ext uri="{FF2B5EF4-FFF2-40B4-BE49-F238E27FC236}">
                <a16:creationId xmlns:a16="http://schemas.microsoft.com/office/drawing/2014/main" id="{83246117-FFD7-4D84-A0D6-8A6A1E98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A82"/>
                </a:solidFill>
                <a:latin typeface="Arial"/>
                <a:ea typeface="Arial"/>
                <a:cs typeface="Arial"/>
              </a:rPr>
              <a:t>Keep the browser open with Scenario A active, then change scenarios only when the storyline calls for it.</a:t>
            </a:r>
          </a:p>
        </p:txBody>
      </p:sp>
      <p:sp>
        <p:nvSpPr>
          <p:cNvPr id="4" name="rule-177">
            <a:extLst xmlns:a="http://schemas.openxmlformats.org/drawingml/2006/main">
              <a:ext uri="{FF2B5EF4-FFF2-40B4-BE49-F238E27FC236}">
                <a16:creationId xmlns:a16="http://schemas.microsoft.com/office/drawing/2014/main" id="{7B8AA988-2723-4052-8E7B-C4E9F2A5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BDD"/>
          </a:solidFill>
          <a:ln xmlns:a="http://schemas.openxmlformats.org/drawingml/2006/main" w="0">
            <a:solidFill>
              <a:srgbClr val="CBDBDD"/>
            </a:solidFill>
            <a:prstDash val="solid"/>
          </a:ln>
        </p:spPr>
      </p:sp>
      <p:sp>
        <p:nvSpPr>
          <p:cNvPr id="5" name="txt-178">
            <a:extLst xmlns:a="http://schemas.openxmlformats.org/drawingml/2006/main">
              <a:ext uri="{FF2B5EF4-FFF2-40B4-BE49-F238E27FC236}">
                <a16:creationId xmlns:a16="http://schemas.microsoft.com/office/drawing/2014/main" id="{4F2A56C2-9DF7-4563-B00D-129BFD4C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A82"/>
                </a:solidFill>
                <a:latin typeface="Arial"/>
                <a:ea typeface="Arial"/>
                <a:cs typeface="Arial"/>
              </a:rPr>
              <a:t>FLOWGUARD</a:t>
            </a:r>
          </a:p>
        </p:txBody>
      </p:sp>
      <p:sp>
        <p:nvSpPr>
          <p:cNvPr id="6" name="txt-179">
            <a:extLst xmlns:a="http://schemas.openxmlformats.org/drawingml/2006/main">
              <a:ext uri="{FF2B5EF4-FFF2-40B4-BE49-F238E27FC236}">
                <a16:creationId xmlns:a16="http://schemas.microsoft.com/office/drawing/2014/main" id="{D7D36C2F-FC09-497B-ADD7-FA8C1910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647A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A8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rule-180">
            <a:extLst xmlns:a="http://schemas.openxmlformats.org/drawingml/2006/main">
              <a:ext uri="{FF2B5EF4-FFF2-40B4-BE49-F238E27FC236}">
                <a16:creationId xmlns:a16="http://schemas.microsoft.com/office/drawing/2014/main" id="{34E310E0-B6FF-4894-8FB2-B6386295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143125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8" name="shape-181">
            <a:extLst xmlns:a="http://schemas.openxmlformats.org/drawingml/2006/main">
              <a:ext uri="{FF2B5EF4-FFF2-40B4-BE49-F238E27FC236}">
                <a16:creationId xmlns:a16="http://schemas.microsoft.com/office/drawing/2014/main" id="{5B9B464B-DA07-4DA6-8F11-A6FFA30D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133600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1C1"/>
          </a:solidFill>
          <a:ln xmlns:a="http://schemas.openxmlformats.org/drawingml/2006/main" w="0">
            <a:solidFill>
              <a:srgbClr val="35E1C1"/>
            </a:solidFill>
            <a:prstDash val="solid"/>
          </a:ln>
        </p:spPr>
      </p:sp>
      <p:sp>
        <p:nvSpPr>
          <p:cNvPr id="9" name="txt-182">
            <a:extLst xmlns:a="http://schemas.openxmlformats.org/drawingml/2006/main">
              <a:ext uri="{FF2B5EF4-FFF2-40B4-BE49-F238E27FC236}">
                <a16:creationId xmlns:a16="http://schemas.microsoft.com/office/drawing/2014/main" id="{E6360931-61BB-48CE-8F7C-034F1D80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00:00</a:t>
            </a:r>
          </a:p>
        </p:txBody>
      </p:sp>
      <p:sp>
        <p:nvSpPr>
          <p:cNvPr id="10" name="txt-183">
            <a:extLst xmlns:a="http://schemas.openxmlformats.org/drawingml/2006/main">
              <a:ext uri="{FF2B5EF4-FFF2-40B4-BE49-F238E27FC236}">
                <a16:creationId xmlns:a16="http://schemas.microsoft.com/office/drawing/2014/main" id="{A6FEA29E-8856-4833-A124-EDE7C9A1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133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Problem and promise</a:t>
            </a:r>
          </a:p>
        </p:txBody>
      </p:sp>
      <p:sp>
        <p:nvSpPr>
          <p:cNvPr id="11" name="txt-184">
            <a:extLst xmlns:a="http://schemas.openxmlformats.org/drawingml/2006/main">
              <a:ext uri="{FF2B5EF4-FFF2-40B4-BE49-F238E27FC236}">
                <a16:creationId xmlns:a16="http://schemas.microsoft.com/office/drawing/2014/main" id="{76FABB77-F000-4887-8B91-E6D7A997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38400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E35"/>
                </a:solidFill>
                <a:latin typeface="Arial"/>
                <a:ea typeface="Arial"/>
                <a:cs typeface="Arial"/>
              </a:rPr>
              <a:t>Liquidity volatility, duplicate invoices, and the reserve floor</a:t>
            </a:r>
          </a:p>
        </p:txBody>
      </p:sp>
      <p:sp>
        <p:nvSpPr>
          <p:cNvPr id="12" name="shape-185">
            <a:extLst xmlns:a="http://schemas.openxmlformats.org/drawingml/2006/main">
              <a:ext uri="{FF2B5EF4-FFF2-40B4-BE49-F238E27FC236}">
                <a16:creationId xmlns:a16="http://schemas.microsoft.com/office/drawing/2014/main" id="{33EA803C-9C9C-4FB0-A62F-79012791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847975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F71"/>
          </a:solidFill>
          <a:ln xmlns:a="http://schemas.openxmlformats.org/drawingml/2006/main" w="0">
            <a:solidFill>
              <a:srgbClr val="E5FF71"/>
            </a:solidFill>
            <a:prstDash val="solid"/>
          </a:ln>
        </p:spPr>
      </p:sp>
      <p:sp>
        <p:nvSpPr>
          <p:cNvPr id="13" name="txt-186">
            <a:extLst xmlns:a="http://schemas.openxmlformats.org/drawingml/2006/main">
              <a:ext uri="{FF2B5EF4-FFF2-40B4-BE49-F238E27FC236}">
                <a16:creationId xmlns:a16="http://schemas.microsoft.com/office/drawing/2014/main" id="{6623C050-FFB3-4FB7-AB06-3D268D00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00:40</a:t>
            </a:r>
          </a:p>
        </p:txBody>
      </p:sp>
      <p:sp>
        <p:nvSpPr>
          <p:cNvPr id="14" name="txt-187">
            <a:extLst xmlns:a="http://schemas.openxmlformats.org/drawingml/2006/main">
              <a:ext uri="{FF2B5EF4-FFF2-40B4-BE49-F238E27FC236}">
                <a16:creationId xmlns:a16="http://schemas.microsoft.com/office/drawing/2014/main" id="{04796EB7-FEC4-4FCA-B831-C279E080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479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Payment planner</a:t>
            </a:r>
          </a:p>
        </p:txBody>
      </p:sp>
      <p:sp>
        <p:nvSpPr>
          <p:cNvPr id="15" name="txt-188">
            <a:extLst xmlns:a="http://schemas.openxmlformats.org/drawingml/2006/main">
              <a:ext uri="{FF2B5EF4-FFF2-40B4-BE49-F238E27FC236}">
                <a16:creationId xmlns:a16="http://schemas.microsoft.com/office/drawing/2014/main" id="{C81183D9-5D38-4C50-85E5-C2C646FE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5277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E35"/>
                </a:solidFill>
                <a:latin typeface="Arial"/>
                <a:ea typeface="Arial"/>
                <a:cs typeface="Arial"/>
              </a:rPr>
              <a:t>Show balances, corridor costs, and PAY NOW versus DEFER</a:t>
            </a:r>
          </a:p>
        </p:txBody>
      </p:sp>
      <p:sp>
        <p:nvSpPr>
          <p:cNvPr id="16" name="shape-189">
            <a:extLst xmlns:a="http://schemas.openxmlformats.org/drawingml/2006/main">
              <a:ext uri="{FF2B5EF4-FFF2-40B4-BE49-F238E27FC236}">
                <a16:creationId xmlns:a16="http://schemas.microsoft.com/office/drawing/2014/main" id="{C81141BF-85E2-402C-B090-9B5AD46E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562350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56B"/>
          </a:solidFill>
          <a:ln xmlns:a="http://schemas.openxmlformats.org/drawingml/2006/main" w="0">
            <a:solidFill>
              <a:srgbClr val="FF756B"/>
            </a:solidFill>
            <a:prstDash val="solid"/>
          </a:ln>
        </p:spPr>
      </p:sp>
      <p:sp>
        <p:nvSpPr>
          <p:cNvPr id="17" name="txt-190">
            <a:extLst xmlns:a="http://schemas.openxmlformats.org/drawingml/2006/main">
              <a:ext uri="{FF2B5EF4-FFF2-40B4-BE49-F238E27FC236}">
                <a16:creationId xmlns:a16="http://schemas.microsoft.com/office/drawing/2014/main" id="{EA3A7914-48C3-455C-9115-7C594548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01:20</a:t>
            </a:r>
          </a:p>
        </p:txBody>
      </p:sp>
      <p:sp>
        <p:nvSpPr>
          <p:cNvPr id="18" name="txt-191">
            <a:extLst xmlns:a="http://schemas.openxmlformats.org/drawingml/2006/main">
              <a:ext uri="{FF2B5EF4-FFF2-40B4-BE49-F238E27FC236}">
                <a16:creationId xmlns:a16="http://schemas.microsoft.com/office/drawing/2014/main" id="{35978255-920A-4474-B894-D5A28FB3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562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Duplicate attack</a:t>
            </a:r>
          </a:p>
        </p:txBody>
      </p:sp>
      <p:sp>
        <p:nvSpPr>
          <p:cNvPr id="19" name="txt-192">
            <a:extLst xmlns:a="http://schemas.openxmlformats.org/drawingml/2006/main">
              <a:ext uri="{FF2B5EF4-FFF2-40B4-BE49-F238E27FC236}">
                <a16:creationId xmlns:a16="http://schemas.microsoft.com/office/drawing/2014/main" id="{31CB7D77-2834-43D6-95FD-3E971188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67150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E35"/>
                </a:solidFill>
                <a:latin typeface="Arial"/>
                <a:ea typeface="Arial"/>
                <a:cs typeface="Arial"/>
              </a:rPr>
              <a:t>Inject the Bavaria near-match and show the policy block</a:t>
            </a:r>
          </a:p>
        </p:txBody>
      </p:sp>
      <p:sp>
        <p:nvSpPr>
          <p:cNvPr id="20" name="shape-193">
            <a:extLst xmlns:a="http://schemas.openxmlformats.org/drawingml/2006/main">
              <a:ext uri="{FF2B5EF4-FFF2-40B4-BE49-F238E27FC236}">
                <a16:creationId xmlns:a16="http://schemas.microsoft.com/office/drawing/2014/main" id="{C735B6DF-D499-4A5A-8884-0E3063B3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276725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6D"/>
          </a:solidFill>
          <a:ln xmlns:a="http://schemas.openxmlformats.org/drawingml/2006/main" w="0">
            <a:solidFill>
              <a:srgbClr val="FFC66D"/>
            </a:solidFill>
            <a:prstDash val="solid"/>
          </a:ln>
        </p:spPr>
      </p:sp>
      <p:sp>
        <p:nvSpPr>
          <p:cNvPr id="21" name="txt-194">
            <a:extLst xmlns:a="http://schemas.openxmlformats.org/drawingml/2006/main">
              <a:ext uri="{FF2B5EF4-FFF2-40B4-BE49-F238E27FC236}">
                <a16:creationId xmlns:a16="http://schemas.microsoft.com/office/drawing/2014/main" id="{CA1ADFDE-541A-4D08-9605-75200E53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02:05</a:t>
            </a:r>
          </a:p>
        </p:txBody>
      </p:sp>
      <p:sp>
        <p:nvSpPr>
          <p:cNvPr id="22" name="txt-195">
            <a:extLst xmlns:a="http://schemas.openxmlformats.org/drawingml/2006/main">
              <a:ext uri="{FF2B5EF4-FFF2-40B4-BE49-F238E27FC236}">
                <a16:creationId xmlns:a16="http://schemas.microsoft.com/office/drawing/2014/main" id="{7066723A-17EB-4DAA-9045-8661C5EF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767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Verified transfer</a:t>
            </a:r>
          </a:p>
        </p:txBody>
      </p:sp>
      <p:sp>
        <p:nvSpPr>
          <p:cNvPr id="23" name="txt-196">
            <a:extLst xmlns:a="http://schemas.openxmlformats.org/drawingml/2006/main">
              <a:ext uri="{FF2B5EF4-FFF2-40B4-BE49-F238E27FC236}">
                <a16:creationId xmlns:a16="http://schemas.microsoft.com/office/drawing/2014/main" id="{B3363E82-5D27-470A-A0EE-1900894A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8152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E35"/>
                </a:solidFill>
                <a:latin typeface="Arial"/>
                <a:ea typeface="Arial"/>
                <a:cs typeface="Arial"/>
              </a:rPr>
              <a:t>Review intent token, submit sandbox transfer, simulate PAID</a:t>
            </a:r>
          </a:p>
        </p:txBody>
      </p:sp>
      <p:sp>
        <p:nvSpPr>
          <p:cNvPr id="24" name="shape-197">
            <a:extLst xmlns:a="http://schemas.openxmlformats.org/drawingml/2006/main">
              <a:ext uri="{FF2B5EF4-FFF2-40B4-BE49-F238E27FC236}">
                <a16:creationId xmlns:a16="http://schemas.microsoft.com/office/drawing/2014/main" id="{AEDD7798-F3FB-4A31-B98A-829D92EC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991100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1C1"/>
          </a:solidFill>
          <a:ln xmlns:a="http://schemas.openxmlformats.org/drawingml/2006/main" w="0">
            <a:solidFill>
              <a:srgbClr val="35E1C1"/>
            </a:solidFill>
            <a:prstDash val="solid"/>
          </a:ln>
        </p:spPr>
      </p:sp>
      <p:sp>
        <p:nvSpPr>
          <p:cNvPr id="25" name="txt-198">
            <a:extLst xmlns:a="http://schemas.openxmlformats.org/drawingml/2006/main">
              <a:ext uri="{FF2B5EF4-FFF2-40B4-BE49-F238E27FC236}">
                <a16:creationId xmlns:a16="http://schemas.microsoft.com/office/drawing/2014/main" id="{6697A9C7-27EF-4077-A2C9-B5C14A49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02:40</a:t>
            </a:r>
          </a:p>
        </p:txBody>
      </p:sp>
      <p:sp>
        <p:nvSpPr>
          <p:cNvPr id="26" name="txt-199">
            <a:extLst xmlns:a="http://schemas.openxmlformats.org/drawingml/2006/main">
              <a:ext uri="{FF2B5EF4-FFF2-40B4-BE49-F238E27FC236}">
                <a16:creationId xmlns:a16="http://schemas.microsoft.com/office/drawing/2014/main" id="{372528A5-EA7B-429F-8F1B-879E7836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91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71A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A26"/>
                </a:solidFill>
                <a:latin typeface="Arial"/>
                <a:ea typeface="Arial"/>
                <a:cs typeface="Arial"/>
              </a:rPr>
              <a:t>Audit trail</a:t>
            </a:r>
          </a:p>
        </p:txBody>
      </p:sp>
      <p:sp>
        <p:nvSpPr>
          <p:cNvPr id="27" name="txt-200">
            <a:extLst xmlns:a="http://schemas.openxmlformats.org/drawingml/2006/main">
              <a:ext uri="{FF2B5EF4-FFF2-40B4-BE49-F238E27FC236}">
                <a16:creationId xmlns:a16="http://schemas.microsoft.com/office/drawing/2014/main" id="{A20D6169-9EFE-46DD-A3BE-B7A7BA55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95900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A2E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E35"/>
                </a:solidFill>
                <a:latin typeface="Arial"/>
                <a:ea typeface="Arial"/>
                <a:cs typeface="Arial"/>
              </a:rPr>
              <a:t>Close on traceability and safe autonomous finance</a:t>
            </a:r>
          </a:p>
        </p:txBody>
      </p:sp>
      <p:sp>
        <p:nvSpPr>
          <p:cNvPr id="28" name="shape-201">
            <a:extLst xmlns:a="http://schemas.openxmlformats.org/drawingml/2006/main">
              <a:ext uri="{FF2B5EF4-FFF2-40B4-BE49-F238E27FC236}">
                <a16:creationId xmlns:a16="http://schemas.microsoft.com/office/drawing/2014/main" id="{1F554CC6-36EE-4691-8A81-B2E41ED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190750" cy="3429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71A26"/>
          </a:solidFill>
          <a:ln xmlns:a="http://schemas.openxmlformats.org/drawingml/2006/main" w="0">
            <a:solidFill>
              <a:srgbClr val="071A26"/>
            </a:solidFill>
            <a:prstDash val="solid"/>
          </a:ln>
        </p:spPr>
      </p:sp>
      <p:sp>
        <p:nvSpPr>
          <p:cNvPr id="29" name="tag-202">
            <a:extLst xmlns:a="http://schemas.openxmlformats.org/drawingml/2006/main">
              <a:ext uri="{FF2B5EF4-FFF2-40B4-BE49-F238E27FC236}">
                <a16:creationId xmlns:a16="http://schemas.microsoft.com/office/drawing/2014/main" id="{A9EA4BCF-1E6C-45BE-B9BE-C95C774F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193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E5FF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E5FF7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5FF71"/>
                </a:solidFill>
                <a:latin typeface="Arial"/>
                <a:ea typeface="Arial"/>
                <a:cs typeface="Arial"/>
              </a:rPr>
              <a:t>PRESENTER CUE</a:t>
            </a:r>
          </a:p>
        </p:txBody>
      </p:sp>
      <p:sp>
        <p:nvSpPr>
          <p:cNvPr id="30" name="txt-203">
            <a:extLst xmlns:a="http://schemas.openxmlformats.org/drawingml/2006/main">
              <a:ext uri="{FF2B5EF4-FFF2-40B4-BE49-F238E27FC236}">
                <a16:creationId xmlns:a16="http://schemas.microsoft.com/office/drawing/2014/main" id="{14B33E44-A93E-4C3F-A3C8-9ADFDDA1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67025"/>
            <a:ext cx="152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Show the reason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behind every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decision.</a:t>
            </a:r>
          </a:p>
        </p:txBody>
      </p:sp>
      <p:sp>
        <p:nvSpPr>
          <p:cNvPr id="31" name="txt-204">
            <a:extLst xmlns:a="http://schemas.openxmlformats.org/drawingml/2006/main">
              <a:ext uri="{FF2B5EF4-FFF2-40B4-BE49-F238E27FC236}">
                <a16:creationId xmlns:a16="http://schemas.microsoft.com/office/drawing/2014/main" id="{17A7F3F7-C852-46E0-A56F-377CB961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C4D7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4D7D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4D7DA"/>
                </a:solidFill>
                <a:latin typeface="Arial"/>
                <a:ea typeface="Arial"/>
                <a:cs typeface="Arial"/>
              </a:rPr>
              <a:t>Judges should see a specific control, a specific outcome, and an audit record.</a:t>
            </a:r>
          </a:p>
        </p:txBody>
      </p:sp>
    </p:spTree>
    <p:extLst>
      <p:ext uri="{BB962C8B-B14F-4D97-AF65-F5344CB8AC3E}">
        <p14:creationId xmlns:p14="http://schemas.microsoft.com/office/powerpoint/2010/main" val="13618506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A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hape-205">
            <a:extLst xmlns:a="http://schemas.openxmlformats.org/drawingml/2006/main">
              <a:ext uri="{FF2B5EF4-FFF2-40B4-BE49-F238E27FC236}">
                <a16:creationId xmlns:a16="http://schemas.microsoft.com/office/drawing/2014/main" id="{70CFB103-8E95-4C7E-AB24-014E6E3D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1C1"/>
          </a:solidFill>
          <a:ln xmlns:a="http://schemas.openxmlformats.org/drawingml/2006/main" w="0">
            <a:solidFill>
              <a:srgbClr val="35E1C1"/>
            </a:solidFill>
            <a:prstDash val="solid"/>
          </a:ln>
        </p:spPr>
      </p:sp>
      <p:sp>
        <p:nvSpPr>
          <p:cNvPr id="2" name="tag-206">
            <a:extLst xmlns:a="http://schemas.openxmlformats.org/drawingml/2006/main">
              <a:ext uri="{FF2B5EF4-FFF2-40B4-BE49-F238E27FC236}">
                <a16:creationId xmlns:a16="http://schemas.microsoft.com/office/drawing/2014/main" id="{26EC5591-5E52-4F50-8593-18BF242D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E5FF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E5FF7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5FF71"/>
                </a:solidFill>
                <a:latin typeface="Arial"/>
                <a:ea typeface="Arial"/>
                <a:cs typeface="Arial"/>
              </a:rPr>
              <a:t>CLOSING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FA542485-B72A-4B8C-974D-62D41A64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62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FlowGuard gives autonomous payments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policy boundary.</a:t>
            </a:r>
          </a:p>
        </p:txBody>
      </p:sp>
      <p:sp>
        <p:nvSpPr>
          <p:cNvPr id="4" name="txt-207">
            <a:extLst xmlns:a="http://schemas.openxmlformats.org/drawingml/2006/main">
              <a:ext uri="{FF2B5EF4-FFF2-40B4-BE49-F238E27FC236}">
                <a16:creationId xmlns:a16="http://schemas.microsoft.com/office/drawing/2014/main" id="{FFF69F94-68D2-43A8-91E6-A0F43F6B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C8D9D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C8D9D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D9DC"/>
                </a:solidFill>
                <a:latin typeface="Arial"/>
                <a:ea typeface="Arial"/>
                <a:cs typeface="Arial"/>
              </a:rPr>
              <a:t>It protects the cash buffer, detects suspicious duplicates, and links each executed transfer to a verified approval path.</a:t>
            </a:r>
          </a:p>
        </p:txBody>
      </p:sp>
      <p:sp>
        <p:nvSpPr>
          <p:cNvPr id="5" name="shape-208">
            <a:extLst xmlns:a="http://schemas.openxmlformats.org/drawingml/2006/main">
              <a:ext uri="{FF2B5EF4-FFF2-40B4-BE49-F238E27FC236}">
                <a16:creationId xmlns:a16="http://schemas.microsoft.com/office/drawing/2014/main" id="{F0335D40-2292-49AB-9671-1BB10DF7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066800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D2E3B"/>
          </a:solidFill>
          <a:ln xmlns:a="http://schemas.openxmlformats.org/drawingml/2006/main" w="9525">
            <a:solidFill>
              <a:srgbClr val="244B58"/>
            </a:solidFill>
            <a:prstDash val="solid"/>
          </a:ln>
        </p:spPr>
      </p:sp>
      <p:sp>
        <p:nvSpPr>
          <p:cNvPr id="6" name="txt-209">
            <a:extLst xmlns:a="http://schemas.openxmlformats.org/drawingml/2006/main">
              <a:ext uri="{FF2B5EF4-FFF2-40B4-BE49-F238E27FC236}">
                <a16:creationId xmlns:a16="http://schemas.microsoft.com/office/drawing/2014/main" id="{54A5A70E-29B3-4E49-A8F2-397CA6B9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35E1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5E1C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E1C1"/>
                </a:solidFill>
                <a:latin typeface="Arial"/>
                <a:ea typeface="Arial"/>
                <a:cs typeface="Arial"/>
              </a:rPr>
              <a:t>Airwallex Sandbox</a:t>
            </a:r>
          </a:p>
        </p:txBody>
      </p:sp>
      <p:sp>
        <p:nvSpPr>
          <p:cNvPr id="7" name="txt-210">
            <a:extLst xmlns:a="http://schemas.openxmlformats.org/drawingml/2006/main">
              <a:ext uri="{FF2B5EF4-FFF2-40B4-BE49-F238E27FC236}">
                <a16:creationId xmlns:a16="http://schemas.microsoft.com/office/drawing/2014/main" id="{CC2B2576-DA4B-4570-8369-49379E24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291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8" name="txt-211">
            <a:extLst xmlns:a="http://schemas.openxmlformats.org/drawingml/2006/main">
              <a:ext uri="{FF2B5EF4-FFF2-40B4-BE49-F238E27FC236}">
                <a16:creationId xmlns:a16="http://schemas.microsoft.com/office/drawing/2014/main" id="{49E53015-BA6A-42B5-AFCF-4E562C57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291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E5FF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E5FF7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FF71"/>
                </a:solidFill>
                <a:latin typeface="Arial"/>
                <a:ea typeface="Arial"/>
                <a:cs typeface="Arial"/>
              </a:rPr>
              <a:t>ArmorIQ Intent Assurance</a:t>
            </a:r>
          </a:p>
        </p:txBody>
      </p:sp>
      <p:sp>
        <p:nvSpPr>
          <p:cNvPr id="9" name="txt-212">
            <a:extLst xmlns:a="http://schemas.openxmlformats.org/drawingml/2006/main">
              <a:ext uri="{FF2B5EF4-FFF2-40B4-BE49-F238E27FC236}">
                <a16:creationId xmlns:a16="http://schemas.microsoft.com/office/drawing/2014/main" id="{7D3F02F3-6007-44C6-B2E3-8A8D5859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6291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0" name="txt-213">
            <a:extLst xmlns:a="http://schemas.openxmlformats.org/drawingml/2006/main">
              <a:ext uri="{FF2B5EF4-FFF2-40B4-BE49-F238E27FC236}">
                <a16:creationId xmlns:a16="http://schemas.microsoft.com/office/drawing/2014/main" id="{0EB05684-2F3B-4219-A1B5-3FB026B5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29150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350" b="1">
                <a:solidFill>
                  <a:srgbClr val="A8F4D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A8F4D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8F4DE"/>
                </a:solidFill>
                <a:latin typeface="Arial"/>
                <a:ea typeface="Arial"/>
                <a:cs typeface="Arial"/>
              </a:rPr>
              <a:t>Deterministic treasury rules</a:t>
            </a:r>
          </a:p>
        </p:txBody>
      </p:sp>
      <p:sp>
        <p:nvSpPr>
          <p:cNvPr id="11" name="txt-214">
            <a:extLst xmlns:a="http://schemas.openxmlformats.org/drawingml/2006/main">
              <a:ext uri="{FF2B5EF4-FFF2-40B4-BE49-F238E27FC236}">
                <a16:creationId xmlns:a16="http://schemas.microsoft.com/office/drawing/2014/main" id="{111CA972-25B7-4D6D-85F3-42925CD8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12" name="rule-215">
            <a:extLst xmlns:a="http://schemas.openxmlformats.org/drawingml/2006/main">
              <a:ext uri="{FF2B5EF4-FFF2-40B4-BE49-F238E27FC236}">
                <a16:creationId xmlns:a16="http://schemas.microsoft.com/office/drawing/2014/main" id="{D8EFBC63-04F2-4234-802E-01ECCDAF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652"/>
          </a:solidFill>
          <a:ln xmlns:a="http://schemas.openxmlformats.org/drawingml/2006/main" w="0">
            <a:solidFill>
              <a:srgbClr val="254652"/>
            </a:solidFill>
            <a:prstDash val="solid"/>
          </a:ln>
        </p:spPr>
      </p:sp>
      <p:sp>
        <p:nvSpPr>
          <p:cNvPr id="13" name="txt-216">
            <a:extLst xmlns:a="http://schemas.openxmlformats.org/drawingml/2006/main">
              <a:ext uri="{FF2B5EF4-FFF2-40B4-BE49-F238E27FC236}">
                <a16:creationId xmlns:a16="http://schemas.microsoft.com/office/drawing/2014/main" id="{F55942AD-2F7E-4505-B8F6-9C842940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B5CA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B5CAC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5CACD"/>
                </a:solidFill>
                <a:latin typeface="Arial"/>
                <a:ea typeface="Arial"/>
                <a:cs typeface="Arial"/>
              </a:rPr>
              <a:t>FLOWGUARD</a:t>
            </a:r>
          </a:p>
        </p:txBody>
      </p:sp>
      <p:sp>
        <p:nvSpPr>
          <p:cNvPr id="14" name="txt-217">
            <a:extLst xmlns:a="http://schemas.openxmlformats.org/drawingml/2006/main">
              <a:ext uri="{FF2B5EF4-FFF2-40B4-BE49-F238E27FC236}">
                <a16:creationId xmlns:a16="http://schemas.microsoft.com/office/drawing/2014/main" id="{DDE4F6AA-0D90-416C-9F66-2F367A37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B5CA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B5CAC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5CAC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603881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2026-10-15T16:35:49.9120000Z</dcterms:created>
  <dcterms:modified xsi:type="dcterms:W3CDTF">2026-10-15T16:35:49.9120000Z</dcterms:modified>
</coreProperties>
</file>